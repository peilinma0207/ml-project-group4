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0" d="100"/>
          <a:sy n="80" d="100"/>
        </p:scale>
        <p:origin x="75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Hello everyone. Welcome to our project presentation for Group 4. Today we're going to walk you through our course project on multimodal ASR transcript enhancement. This research explores how we can combine audio processing, computer vision, and language models to improve automatic speech recognition quality in challenging scenarios like technical lectures.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Before we dive in, let me outline what we'll cover today. First, we'll explain the research problem we're tackling—why ASR systems struggle with technical content and what additional information sources we can leverage. Then we'll walk through what we've built so far: our dataset, the processing pipeline, and the technical architecture. Finally, we'll discuss our roadmap for evaluation and system improvements.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Let's start with the fundamental question we're investigating. When you watch a technical lecture or TED talk, the audio quality isn't always perfect, and the content is full of specialized terminology. Standard ASR models like Whisper can give you a baseline transcript, but they often miss technical terms or proper nouns. The question is: can we leverage the visual information in the video—like slides, subtitles, or on-screen text—plus some background knowledge, to fix these errors? This isn't about building a perfect system that works automatically every time. It's about exploring whether combining these information sources actually provides useful evidence for correcting transcripts.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To understand our approach, we need to look at the three types of information we're trying to combine. First, the ASR output gives us the baseline transcript with confidence scores. Low-confidence segments are exactly where we want to focus our repair efforts. Second, the video frames provide visual evidence. We're particularly interested in frames around scene changes or low-confidence segments, where the vision-language model can read text on slides or identify key visual concepts. Third, we have the domain glossary—a curated list of technical terms related to the video topic. This acts like a lightweight knowledge base for term verification. None of these sources is perfect alone, but together they might give us enough signal to make intelligent corrections.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Moving on to what we've actually built. We started by creating a small but carefully curated dataset. We selected 10 TED and TED-Ed videos specifically focused on artificial intelligence and machine learning topics. For each video, we didn't just grab the file—we manually collected reference transcripts to serve as ground truth for evaluation, extracted metadata about speakers and topics, and prepared background documents for RAG retrieval. The dataset is stored in a structured directory format that our pipeline can read automatically. While 10 samples might seem small, it's actually sufficient for running end-to-end experiments and validating that our technical approach works before scaling up.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Now let's look at the actual pipeline architecture. The system follows a sequential processing flow. We start with the raw video input. First, we extract and preprocess the audio, then feed it through WhisperX for initial transcription and speaker diarization. In parallel, we sample frames from the video—strategically selecting frames around scene changes and those low-confidence ASR segments I mentioned earlier. These frames go to Qwen3-VL, our vision-language model, which extracts visual evidence. Meanwhile, we query the local glossary using fuzzy matching for relevant terms. All three evidence streams—the ASR output, visual analysis, and glossary matches—get merged by timestamp. Finally, Qwen3-8B, our text repair model, takes this fused evidence and generates the corrected transcript, which we export as both JSON and Markdown for easy inspection.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Let me break down the specific models and tools we're using. For ASR, we use WhisperX with the base model as default, though we can swap in larger models like medium or large if needed. It also handles speaker diarization through pyannote, though that requires HuggingFace authentication. For understanding what appears in the video frames, we use Qwen3-VL-4B-Instruct. This vision-language model can read text on slides, describe scenes, and identify technical terms visible in the frames. For the actual transcript repair—the text generation part—we use Qwen3-8B through an OpenAI-compatible API. It takes all the evidence we've gathered and rewrites the transcript. For retrieval, we're currently using a simple approach: a local JSON glossary file with fuzzy matching, not a full vector database yet. This keeps the prototype lightweight while we validate the concept.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I want to be realistic about where we are. This is definitely still a prototype, not a production system. The RAG module is just a JSON file with fuzzy matching—it's not a real vector database with embeddings. The visual understanding and text repair steps require external API calls or local GPU resources, which adds latency and complexity. We don't have a web interface yet; everything runs through command line and Makefiles. And we haven't done large-scale quantitative evaluation—we know the pipeline runs, but we haven't measured exactly how much it improves accuracy. So think of this as a functioning experimental framework where we've validated that the pieces can work together, but there's significant engineering and evaluation work remaining.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Looking ahead, our first priority is building a proper evaluation framework. Since we have those manual reference transcripts I mentioned, we can do rigorous quantitative analysis. We'll measure standard Word Error Rate comparing original WhisperX output against our repaired transcripts. But more importantly for our use case, we'll calculate technical term accuracy—how often do we correctly recognize domain-specific terms compared to the baseline? We also want to analyze whether the segments our system flags for review actually correlate with higher error rates. This will tell us if our confidence-based targeting is working. Essentially, we need to prove that all this multimodal complexity actually produces better results than just using WhisperX alone.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The second major direction is improving our retrieval and evidence usage. Right now we're using simple string matching against a JSON file. We want to upgrade this to a proper vector database—something like ChromaDB or Weaviate—with actual embeddings. This will let us do semantic search rather than just exact matching. We also want to expand what goes into that knowledge base—not just technical terms, but speaker biographies, topic summaries, and even extracted text from the actual presentation slides. Finally, we need smarter rules for when to apply corrections. Right now we might be over-correcting—changing things that were actually right. We need confidence thresholds and evidence strength indicators to only apply repairs when we have high certainty.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10</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15.06.2026</a:t>
            </a:fld>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Finally, we have a list of engineering improvements to make this more usable. We need batch processing—right now we process one video at a time. We want to support standard subtitle formats like SRT and VTT, not just our custom JSON and Markdown. The speaker diarization needs work to handle overlapping speech better. And if time allows, we want to refactor the current linear pipeline into a proper Agent workflow. Think of it as moving from a fixed assembly line to a flexible system where components can call each other based on context. This would make debugging easier and the system more extensible. We might even build a simple web interface so you don't need to use the command line.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D4CED-1049-9713-271F-F562A85A5F9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EC0D44-B27E-ED10-CC60-342AFB6BF09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
        <p:nvSpPr>
          <p:cNvPr id="3" name="Date Placeholder 2">
            <a:extLst>
              <a:ext uri="{FF2B5EF4-FFF2-40B4-BE49-F238E27FC236}">
                <a16:creationId xmlns:a16="http://schemas.microsoft.com/office/drawing/2014/main" id="{D4D1CA75-93DF-92CD-E177-540D3D27FEA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B7268E1E-0E44-426D-905E-8AD9B19D2182}" type="datetimeFigureOut">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15.06.2026</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
        <p:nvSpPr>
          <p:cNvPr id="4" name="Slide Image Placeholder 3">
            <a:extLst>
              <a:ext uri="{FF2B5EF4-FFF2-40B4-BE49-F238E27FC236}">
                <a16:creationId xmlns:a16="http://schemas.microsoft.com/office/drawing/2014/main" id="{8FB68A59-BA19-1E4E-74A5-0DEDF2149D8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a:extLst>
              <a:ext uri="{FF2B5EF4-FFF2-40B4-BE49-F238E27FC236}">
                <a16:creationId xmlns:a16="http://schemas.microsoft.com/office/drawing/2014/main" id="{C48A6CDF-8D63-B70A-8BF0-423F7DB23D5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Hello everyone. Welcome to our project presentation for Group 4. Today we're going to walk you through our course project on multimodal ASR transcript enhancement. This research explores how we can combine audio processing, computer vision, and language models to improve automatic speech recognition quality in challenging scenarios like technical lectures.</a:t>
            </a:r>
          </a:p>
        </p:txBody>
      </p:sp>
      <p:sp>
        <p:nvSpPr>
          <p:cNvPr id="6" name="Footer Placeholder 5">
            <a:extLst>
              <a:ext uri="{FF2B5EF4-FFF2-40B4-BE49-F238E27FC236}">
                <a16:creationId xmlns:a16="http://schemas.microsoft.com/office/drawing/2014/main" id="{D9A271C8-0A04-0F39-011A-4BFB51B156B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07DBBC8A-250A-28AA-9754-443DCA24EEB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662075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alpha val="100000"/>
          </a:srgbClr>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default-master">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blipFill rotWithShape="1">
            <a:blip r:embed="rId3">
              <a:alphaModFix/>
              <a:alphaModFix/>
            </a:blip>
            <a:stretch>
              <a:fillRect/>
            </a:stretch>
          </a:blipFill>
          <a:ln>
            <a:headEnd type="none"/>
            <a:tailEnd type="none"/>
          </a:ln>
        </p:spPr>
      </p:sp>
      <p:sp>
        <p:nvSpPr>
          <p:cNvPr id="3" name="AutoShape 3"/>
          <p:cNvSpPr/>
          <p:nvPr/>
        </p:nvSpPr>
        <p:spPr>
          <a:xfrm>
            <a:off x="0" y="0"/>
            <a:ext cx="12188952" cy="6858000"/>
          </a:xfrm>
          <a:prstGeom prst="rect">
            <a:avLst/>
          </a:prstGeom>
          <a:solidFill>
            <a:srgbClr val="0A0A0B">
              <a:alpha val="34901"/>
            </a:srgbClr>
          </a:solidFill>
          <a:ln>
            <a:headEnd type="none"/>
            <a:tailEnd type="none"/>
          </a:ln>
        </p:spPr>
        <p:txBody>
          <a:bodyPr/>
          <a:lstStyle/>
          <a:p>
            <a:endParaRPr lang="zh-CN" altLang="en-US" dirty="0"/>
          </a:p>
        </p:txBody>
      </p:sp>
      <p:sp>
        <p:nvSpPr>
          <p:cNvPr id="4" name="TextBox 4"/>
          <p:cNvSpPr txBox="1"/>
          <p:nvPr/>
        </p:nvSpPr>
        <p:spPr>
          <a:xfrm>
            <a:off x="649770" y="1972865"/>
            <a:ext cx="10889412" cy="2234208"/>
          </a:xfrm>
          <a:prstGeom prst="rect">
            <a:avLst/>
          </a:prstGeom>
          <a:ln>
            <a:headEnd type="none"/>
            <a:tailEnd type="none"/>
          </a:ln>
        </p:spPr>
        <p:txBody>
          <a:bodyPr vert="horz" wrap="square" lIns="0" tIns="0" rIns="0" bIns="0" rtlCol="0" anchor="t" anchorCtr="1"/>
          <a:lstStyle/>
          <a:p>
            <a:pPr algn="ctr">
              <a:defRPr/>
            </a:pPr>
            <a:r>
              <a:rPr lang="en-US" sz="5100" b="1" i="0" strike="noStrike" dirty="0">
                <a:ln/>
                <a:solidFill>
                  <a:srgbClr val="F1F3F5">
                    <a:alpha val="100000"/>
                  </a:srgbClr>
                </a:solidFill>
                <a:latin typeface="Alibaba PuHuiTi 3.0 55 Regular"/>
                <a:ea typeface="Alibaba PuHuiTi 3.0 55 Regular"/>
                <a:cs typeface="Alibaba PuHuiTi 3.0 55 Regular"/>
              </a:rPr>
              <a:t>Enhancing ASR Transcripts with</a:t>
            </a:r>
            <a:endParaRPr lang="en-US" sz="1100" dirty="0"/>
          </a:p>
          <a:p>
            <a:pPr algn="ctr"/>
            <a:r>
              <a:rPr sz="5100" b="1" i="0" strike="noStrike" dirty="0">
                <a:ln/>
                <a:solidFill>
                  <a:srgbClr val="F1F3F5">
                    <a:alpha val="100000"/>
                  </a:srgbClr>
                </a:solidFill>
                <a:latin typeface="Alibaba PuHuiTi 3.0 55 Regular"/>
                <a:ea typeface="Alibaba PuHuiTi 3.0 55 Regular"/>
                <a:cs typeface="Alibaba PuHuiTi 3.0 55 Regular"/>
              </a:rPr>
              <a:t>Visual Evidence and Domain</a:t>
            </a:r>
            <a:endParaRPr dirty="0"/>
          </a:p>
          <a:p>
            <a:pPr algn="ctr"/>
            <a:r>
              <a:rPr sz="5100" b="1" i="0" strike="noStrike" dirty="0">
                <a:ln/>
                <a:solidFill>
                  <a:srgbClr val="F1F3F5">
                    <a:alpha val="100000"/>
                  </a:srgbClr>
                </a:solidFill>
                <a:latin typeface="Alibaba PuHuiTi 3.0 55 Regular"/>
                <a:ea typeface="Alibaba PuHuiTi 3.0 55 Regular"/>
                <a:cs typeface="Alibaba PuHuiTi 3.0 55 Regular"/>
              </a:rPr>
              <a:t>Knowledge</a:t>
            </a:r>
            <a:endParaRPr dirty="0"/>
          </a:p>
        </p:txBody>
      </p:sp>
      <p:sp>
        <p:nvSpPr>
          <p:cNvPr id="5" name="TextBox 5"/>
          <p:cNvSpPr txBox="1"/>
          <p:nvPr/>
        </p:nvSpPr>
        <p:spPr>
          <a:xfrm>
            <a:off x="1983755" y="4549973"/>
            <a:ext cx="8221443" cy="335161"/>
          </a:xfrm>
          <a:prstGeom prst="rect">
            <a:avLst/>
          </a:prstGeom>
          <a:ln>
            <a:headEnd type="none"/>
            <a:tailEnd type="none"/>
          </a:ln>
        </p:spPr>
        <p:txBody>
          <a:bodyPr vert="horz" wrap="square" lIns="0" tIns="0" rIns="0" bIns="0" rtlCol="0" anchor="t" anchorCtr="1"/>
          <a:lstStyle/>
          <a:p>
            <a:pPr algn="ctr">
              <a:defRPr/>
            </a:pPr>
            <a:r>
              <a:rPr lang="en-US" sz="1600" b="0" i="0" strike="noStrike" dirty="0">
                <a:ln/>
                <a:solidFill>
                  <a:srgbClr val="F1F3F5">
                    <a:alpha val="90196"/>
                  </a:srgbClr>
                </a:solidFill>
                <a:latin typeface="FZYaYiHei GB18030L2 R"/>
                <a:ea typeface="FZYaYiHei GB18030L2 R"/>
                <a:cs typeface="FZYaYiHei GB18030L2 R"/>
              </a:rPr>
              <a:t>ML Project - Group 4 Progress Report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2530077"/>
            <a:ext cx="4507323" cy="1186755"/>
          </a:xfrm>
          <a:prstGeom prst="rect">
            <a:avLst/>
          </a:prstGeom>
          <a:ln>
            <a:headEnd type="none"/>
            <a:tailEnd type="none"/>
          </a:ln>
        </p:spPr>
        <p:txBody>
          <a:bodyPr vert="horz" wrap="none" lIns="0" tIns="0" rIns="0" bIns="0" rtlCol="0" anchor="t" anchorCtr="0"/>
          <a:lstStyle/>
          <a:p>
            <a:pPr algn="l">
              <a:defRPr/>
            </a:pPr>
            <a:r>
              <a:rPr lang="en-US" sz="4200" b="1" i="0" strike="noStrike">
                <a:ln/>
                <a:solidFill>
                  <a:srgbClr val="0A1F3D">
                    <a:alpha val="100000"/>
                  </a:srgbClr>
                </a:solidFill>
                <a:latin typeface="Alibaba PuHuiTi 3.0 55 Regular"/>
                <a:ea typeface="Alibaba PuHuiTi 3.0 55 Regular"/>
                <a:cs typeface="Alibaba PuHuiTi 3.0 55 Regular"/>
              </a:rPr>
              <a:t>Presentation</a:t>
            </a:r>
            <a:endParaRPr lang="en-US" sz="1100"/>
          </a:p>
          <a:p>
            <a:pPr algn="l"/>
            <a:r>
              <a:rPr sz="4200" b="1" i="0" strike="noStrike">
                <a:ln/>
                <a:solidFill>
                  <a:srgbClr val="0A1F3D">
                    <a:alpha val="100000"/>
                  </a:srgbClr>
                </a:solidFill>
                <a:latin typeface="Alibaba PuHuiTi 3.0 55 Regular"/>
                <a:ea typeface="Alibaba PuHuiTi 3.0 55 Regular"/>
                <a:cs typeface="Alibaba PuHuiTi 3.0 55 Regular"/>
              </a:rPr>
              <a:t>Overview</a:t>
            </a:r>
            <a:endParaRPr/>
          </a:p>
        </p:txBody>
      </p:sp>
      <p:sp>
        <p:nvSpPr>
          <p:cNvPr id="5" name="TextBox 5"/>
          <p:cNvSpPr txBox="1"/>
          <p:nvPr/>
        </p:nvSpPr>
        <p:spPr>
          <a:xfrm>
            <a:off x="457086" y="3989189"/>
            <a:ext cx="4507323" cy="67984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70196"/>
                  </a:srgbClr>
                </a:solidFill>
                <a:latin typeface="FZYaYiHei GB18030L2 R"/>
                <a:ea typeface="FZYaYiHei GB18030L2 R"/>
                <a:cs typeface="FZYaYiHei GB18030L2 R"/>
              </a:rPr>
              <a:t>Multimodal ASR Transcript Enhancement: Technical</a:t>
            </a:r>
            <a:endParaRPr lang="en-US" sz="1100"/>
          </a:p>
          <a:p>
            <a:pPr algn="l"/>
            <a:r>
              <a:rPr sz="1200" b="0" i="0" strike="noStrike">
                <a:ln/>
                <a:solidFill>
                  <a:srgbClr val="0A1F3D">
                    <a:alpha val="70196"/>
                  </a:srgbClr>
                </a:solidFill>
                <a:latin typeface="FZYaYiHei GB18030L2 R"/>
                <a:ea typeface="FZYaYiHei GB18030L2 R"/>
                <a:cs typeface="FZYaYiHei GB18030L2 R"/>
              </a:rPr>
              <a:t>architecture, implementation details, and future research</a:t>
            </a:r>
            <a:endParaRPr/>
          </a:p>
          <a:p>
            <a:pPr algn="l"/>
            <a:r>
              <a:rPr sz="1200" b="0" i="0" strike="noStrike">
                <a:ln/>
                <a:solidFill>
                  <a:srgbClr val="0A1F3D">
                    <a:alpha val="70196"/>
                  </a:srgbClr>
                </a:solidFill>
                <a:latin typeface="FZYaYiHei GB18030L2 R"/>
                <a:ea typeface="FZYaYiHei GB18030L2 R"/>
                <a:cs typeface="FZYaYiHei GB18030L2 R"/>
              </a:rPr>
              <a:t>directions.</a:t>
            </a:r>
            <a:endParaRPr/>
          </a:p>
        </p:txBody>
      </p:sp>
      <p:sp>
        <p:nvSpPr>
          <p:cNvPr id="6" name="AutoShape 6"/>
          <p:cNvSpPr/>
          <p:nvPr/>
        </p:nvSpPr>
        <p:spPr>
          <a:xfrm>
            <a:off x="5421494" y="2125266"/>
            <a:ext cx="6310222" cy="9525"/>
          </a:xfrm>
          <a:prstGeom prst="line">
            <a:avLst/>
          </a:prstGeom>
          <a:ln w="9525">
            <a:solidFill>
              <a:srgbClr val="C5CDD6">
                <a:alpha val="100000"/>
              </a:srgbClr>
            </a:solidFill>
            <a:prstDash val="solid"/>
            <a:headEnd type="none"/>
            <a:tailEnd type="none"/>
          </a:ln>
        </p:spPr>
      </p:sp>
      <p:sp>
        <p:nvSpPr>
          <p:cNvPr id="7" name="TextBox 7"/>
          <p:cNvSpPr txBox="1"/>
          <p:nvPr/>
        </p:nvSpPr>
        <p:spPr>
          <a:xfrm>
            <a:off x="5421494" y="1472804"/>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Inter"/>
                <a:ea typeface="Inter"/>
                <a:cs typeface="Inter"/>
              </a:rPr>
              <a:t>01</a:t>
            </a:r>
            <a:endParaRPr lang="en-US" sz="1100"/>
          </a:p>
        </p:txBody>
      </p:sp>
      <p:sp>
        <p:nvSpPr>
          <p:cNvPr id="8" name="TextBox 8"/>
          <p:cNvSpPr txBox="1"/>
          <p:nvPr/>
        </p:nvSpPr>
        <p:spPr>
          <a:xfrm>
            <a:off x="5840490" y="1406127"/>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Research Motivation</a:t>
            </a:r>
            <a:endParaRPr lang="en-US" sz="1100"/>
          </a:p>
        </p:txBody>
      </p:sp>
      <p:sp>
        <p:nvSpPr>
          <p:cNvPr id="9" name="TextBox 9"/>
          <p:cNvSpPr txBox="1"/>
          <p:nvPr/>
        </p:nvSpPr>
        <p:spPr>
          <a:xfrm>
            <a:off x="5840490" y="1777604"/>
            <a:ext cx="5891228"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70196"/>
                  </a:srgbClr>
                </a:solidFill>
                <a:latin typeface="FZYaYiHei GB18030L2 R"/>
                <a:ea typeface="FZYaYiHei GB18030L2 R"/>
                <a:cs typeface="FZYaYiHei GB18030L2 R"/>
              </a:rPr>
              <a:t>Understanding limitations of pure audio-based ASR in technical contexts</a:t>
            </a:r>
            <a:endParaRPr lang="en-US" sz="1100"/>
          </a:p>
        </p:txBody>
      </p:sp>
      <p:sp>
        <p:nvSpPr>
          <p:cNvPr id="10" name="AutoShape 10"/>
          <p:cNvSpPr/>
          <p:nvPr/>
        </p:nvSpPr>
        <p:spPr>
          <a:xfrm>
            <a:off x="5421494" y="3802856"/>
            <a:ext cx="6310222" cy="9525"/>
          </a:xfrm>
          <a:prstGeom prst="line">
            <a:avLst/>
          </a:prstGeom>
          <a:ln w="9525">
            <a:solidFill>
              <a:srgbClr val="C5CDD6">
                <a:alpha val="100000"/>
              </a:srgbClr>
            </a:solidFill>
            <a:prstDash val="solid"/>
            <a:headEnd type="none"/>
            <a:tailEnd type="none"/>
          </a:ln>
        </p:spPr>
      </p:sp>
      <p:sp>
        <p:nvSpPr>
          <p:cNvPr id="11" name="TextBox 11"/>
          <p:cNvSpPr txBox="1"/>
          <p:nvPr/>
        </p:nvSpPr>
        <p:spPr>
          <a:xfrm>
            <a:off x="5421494" y="3150394"/>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Inter"/>
                <a:ea typeface="Inter"/>
                <a:cs typeface="Inter"/>
              </a:rPr>
              <a:t>02</a:t>
            </a:r>
            <a:endParaRPr lang="en-US" sz="1100"/>
          </a:p>
        </p:txBody>
      </p:sp>
      <p:sp>
        <p:nvSpPr>
          <p:cNvPr id="12" name="TextBox 12"/>
          <p:cNvSpPr txBox="1"/>
          <p:nvPr/>
        </p:nvSpPr>
        <p:spPr>
          <a:xfrm>
            <a:off x="5840490" y="3083719"/>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Current Implementation</a:t>
            </a:r>
            <a:endParaRPr lang="en-US" sz="1100"/>
          </a:p>
        </p:txBody>
      </p:sp>
      <p:sp>
        <p:nvSpPr>
          <p:cNvPr id="13" name="TextBox 13"/>
          <p:cNvSpPr txBox="1"/>
          <p:nvPr/>
        </p:nvSpPr>
        <p:spPr>
          <a:xfrm>
            <a:off x="5840490" y="3455194"/>
            <a:ext cx="5891228"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70196"/>
                  </a:srgbClr>
                </a:solidFill>
                <a:latin typeface="FZYaYiHei GB18030L2 R"/>
                <a:ea typeface="FZYaYiHei GB18030L2 R"/>
                <a:cs typeface="FZYaYiHei GB18030L2 R"/>
              </a:rPr>
              <a:t>Multimodal pipeline architecture with WhisperX and vision-language models</a:t>
            </a:r>
            <a:endParaRPr lang="en-US" sz="1100"/>
          </a:p>
        </p:txBody>
      </p:sp>
      <p:sp>
        <p:nvSpPr>
          <p:cNvPr id="14" name="AutoShape 14"/>
          <p:cNvSpPr/>
          <p:nvPr/>
        </p:nvSpPr>
        <p:spPr>
          <a:xfrm>
            <a:off x="5421494" y="5480448"/>
            <a:ext cx="6310222" cy="9525"/>
          </a:xfrm>
          <a:prstGeom prst="line">
            <a:avLst/>
          </a:prstGeom>
          <a:ln w="9525">
            <a:solidFill>
              <a:srgbClr val="C5CDD6">
                <a:alpha val="100000"/>
              </a:srgbClr>
            </a:solidFill>
            <a:prstDash val="solid"/>
            <a:headEnd type="none"/>
            <a:tailEnd type="none"/>
          </a:ln>
        </p:spPr>
      </p:sp>
      <p:sp>
        <p:nvSpPr>
          <p:cNvPr id="15" name="TextBox 15"/>
          <p:cNvSpPr txBox="1"/>
          <p:nvPr/>
        </p:nvSpPr>
        <p:spPr>
          <a:xfrm>
            <a:off x="5421494" y="4827984"/>
            <a:ext cx="266633" cy="152400"/>
          </a:xfrm>
          <a:prstGeom prst="rect">
            <a:avLst/>
          </a:prstGeom>
          <a:ln>
            <a:headEnd type="none"/>
            <a:tailEnd type="none"/>
          </a:ln>
        </p:spPr>
        <p:txBody>
          <a:bodyPr vert="horz" wrap="none" lIns="0" tIns="0" rIns="0" bIns="0" rtlCol="0" anchor="t" anchorCtr="0"/>
          <a:lstStyle/>
          <a:p>
            <a:pPr algn="l">
              <a:defRPr/>
            </a:pPr>
            <a:r>
              <a:rPr lang="en-US" sz="1000" b="0" i="0" strike="noStrike">
                <a:ln/>
                <a:solidFill>
                  <a:srgbClr val="0A1F3D">
                    <a:alpha val="40000"/>
                  </a:srgbClr>
                </a:solidFill>
                <a:latin typeface="Inter"/>
                <a:ea typeface="Inter"/>
                <a:cs typeface="Inter"/>
              </a:rPr>
              <a:t>03</a:t>
            </a:r>
            <a:endParaRPr lang="en-US" sz="1100"/>
          </a:p>
        </p:txBody>
      </p:sp>
      <p:sp>
        <p:nvSpPr>
          <p:cNvPr id="16" name="TextBox 16"/>
          <p:cNvSpPr txBox="1"/>
          <p:nvPr/>
        </p:nvSpPr>
        <p:spPr>
          <a:xfrm>
            <a:off x="5840490" y="4761310"/>
            <a:ext cx="5891228" cy="238125"/>
          </a:xfrm>
          <a:prstGeom prst="rect">
            <a:avLst/>
          </a:prstGeom>
          <a:ln>
            <a:headEnd type="none"/>
            <a:tailEnd type="none"/>
          </a:ln>
        </p:spPr>
        <p:txBody>
          <a:bodyPr vert="horz" wrap="square" lIns="0" tIns="0" rIns="0" bIns="0" rtlCol="0" anchor="t" anchorCtr="0"/>
          <a:lstStyle/>
          <a:p>
            <a:pPr algn="l">
              <a:defRPr/>
            </a:pPr>
            <a:r>
              <a:rPr lang="en-US" sz="1600" b="1" i="0" strike="noStrike">
                <a:ln/>
                <a:solidFill>
                  <a:srgbClr val="0A1F3D">
                    <a:alpha val="100000"/>
                  </a:srgbClr>
                </a:solidFill>
                <a:latin typeface="Alibaba PuHuiTi 3.0 55 Regular"/>
                <a:ea typeface="Alibaba PuHuiTi 3.0 55 Regular"/>
                <a:cs typeface="Alibaba PuHuiTi 3.0 55 Regular"/>
              </a:rPr>
              <a:t>Future Roadmap</a:t>
            </a:r>
            <a:endParaRPr lang="en-US" sz="1100"/>
          </a:p>
        </p:txBody>
      </p:sp>
      <p:sp>
        <p:nvSpPr>
          <p:cNvPr id="17" name="TextBox 17"/>
          <p:cNvSpPr txBox="1"/>
          <p:nvPr/>
        </p:nvSpPr>
        <p:spPr>
          <a:xfrm>
            <a:off x="5840490" y="5132785"/>
            <a:ext cx="5891228"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70196"/>
                  </a:srgbClr>
                </a:solidFill>
                <a:latin typeface="FZYaYiHei GB18030L2 R"/>
                <a:ea typeface="FZYaYiHei GB18030L2 R"/>
                <a:cs typeface="FZYaYiHei GB18030L2 R"/>
              </a:rPr>
              <a:t>Evaluation metrics, retrieval improvements, and engineering enhancements</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8001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The Research Question</a:t>
            </a:r>
            <a:endParaRPr lang="en-US" sz="1100"/>
          </a:p>
        </p:txBody>
      </p:sp>
      <p:sp>
        <p:nvSpPr>
          <p:cNvPr id="5" name="AutoShape 5"/>
          <p:cNvSpPr/>
          <p:nvPr/>
        </p:nvSpPr>
        <p:spPr>
          <a:xfrm>
            <a:off x="457086" y="1671340"/>
            <a:ext cx="11274781" cy="1576983"/>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a:off x="457086" y="1671340"/>
            <a:ext cx="9522" cy="1576983"/>
          </a:xfrm>
          <a:prstGeom prst="line">
            <a:avLst/>
          </a:prstGeom>
          <a:ln w="28575">
            <a:solidFill>
              <a:srgbClr val="5B8CB8">
                <a:alpha val="100000"/>
              </a:srgbClr>
            </a:solidFill>
            <a:prstDash val="solid"/>
            <a:headEnd type="none"/>
            <a:tailEnd type="none"/>
          </a:ln>
        </p:spPr>
      </p:sp>
      <p:sp>
        <p:nvSpPr>
          <p:cNvPr id="7" name="TextBox 7"/>
          <p:cNvSpPr txBox="1"/>
          <p:nvPr/>
        </p:nvSpPr>
        <p:spPr>
          <a:xfrm>
            <a:off x="714196" y="1947565"/>
            <a:ext cx="11474756" cy="10065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Pure audio-based ASR systems face systematic limitations when processing technical content, particularly in misrecognizing domain-specific</a:t>
            </a:r>
            <a:endParaRPr lang="en-US" sz="1100"/>
          </a:p>
          <a:p>
            <a:pPr algn="l"/>
            <a:r>
              <a:rPr sz="1200" b="0" i="0" strike="noStrike">
                <a:ln/>
                <a:solidFill>
                  <a:srgbClr val="0A1F3D">
                    <a:alpha val="90196"/>
                  </a:srgbClr>
                </a:solidFill>
                <a:latin typeface="FZYaYiHei GB18030L2 R"/>
                <a:ea typeface="FZYaYiHei GB18030L2 R"/>
                <a:cs typeface="FZYaYiHei GB18030L2 R"/>
              </a:rPr>
              <a:t>terminology, proper names, and organizations that appear visually in slides or subtitles. This research investigates whether multimodal evidence—</a:t>
            </a:r>
            <a:endParaRPr/>
          </a:p>
          <a:p>
            <a:pPr algn="l"/>
            <a:r>
              <a:rPr sz="1200" b="0" i="0" strike="noStrike">
                <a:ln/>
                <a:solidFill>
                  <a:srgbClr val="0A1F3D">
                    <a:alpha val="90196"/>
                  </a:srgbClr>
                </a:solidFill>
                <a:latin typeface="FZYaYiHei GB18030L2 R"/>
                <a:ea typeface="FZYaYiHei GB18030L2 R"/>
                <a:cs typeface="FZYaYiHei GB18030L2 R"/>
              </a:rPr>
              <a:t>combining low-confidence ASR outputs, video frame analysis, and domain glossaries—can provide sufficient contextual signals to repair these specific</a:t>
            </a:r>
            <a:endParaRPr/>
          </a:p>
          <a:p>
            <a:pPr algn="l"/>
            <a:r>
              <a:rPr sz="1200" b="0" i="0" strike="noStrike">
                <a:ln/>
                <a:solidFill>
                  <a:srgbClr val="0A1F3D">
                    <a:alpha val="90196"/>
                  </a:srgbClr>
                </a:solidFill>
                <a:latin typeface="FZYaYiHei GB18030L2 R"/>
                <a:ea typeface="FZYaYiHei GB18030L2 R"/>
                <a:cs typeface="FZYaYiHei GB18030L2 R"/>
              </a:rPr>
              <a:t>error patterns without requiring full manual transcription.</a:t>
            </a:r>
            <a:endParaRPr/>
          </a:p>
        </p:txBody>
      </p:sp>
      <p:sp>
        <p:nvSpPr>
          <p:cNvPr id="8" name="AutoShape 8"/>
          <p:cNvSpPr/>
          <p:nvPr/>
        </p:nvSpPr>
        <p:spPr>
          <a:xfrm>
            <a:off x="457086" y="3572172"/>
            <a:ext cx="228543" cy="228600"/>
          </a:xfrm>
          <a:prstGeom prst="ellipse">
            <a:avLst/>
          </a:prstGeom>
          <a:solidFill>
            <a:srgbClr val="5B8CB8">
              <a:alpha val="100000"/>
            </a:srgbClr>
          </a:solidFill>
          <a:ln>
            <a:headEnd type="none"/>
            <a:tailEnd type="none"/>
          </a:ln>
        </p:spPr>
      </p:sp>
      <p:sp>
        <p:nvSpPr>
          <p:cNvPr id="9" name="TextBox 9"/>
          <p:cNvSpPr txBox="1"/>
          <p:nvPr/>
        </p:nvSpPr>
        <p:spPr>
          <a:xfrm>
            <a:off x="536838" y="3612653"/>
            <a:ext cx="148791"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F1F3F5">
                    <a:alpha val="100000"/>
                  </a:srgbClr>
                </a:solidFill>
                <a:latin typeface="Alibaba PuHuiTi 3.0 55 Regular"/>
                <a:ea typeface="Alibaba PuHuiTi 3.0 55 Regular"/>
                <a:cs typeface="Alibaba PuHuiTi 3.0 55 Regular"/>
              </a:rPr>
              <a:t>1</a:t>
            </a:r>
            <a:endParaRPr lang="en-US" sz="1100"/>
          </a:p>
        </p:txBody>
      </p:sp>
      <p:sp>
        <p:nvSpPr>
          <p:cNvPr id="10" name="TextBox 10"/>
          <p:cNvSpPr txBox="1"/>
          <p:nvPr/>
        </p:nvSpPr>
        <p:spPr>
          <a:xfrm>
            <a:off x="837990" y="3600747"/>
            <a:ext cx="10893876"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Standard ASR models generate baseline transcripts for lectures and interviews but exhibit characteristic failure modes on technical terms and named entities that</a:t>
            </a:r>
            <a:endParaRPr lang="en-US" sz="1100"/>
          </a:p>
          <a:p>
            <a:pPr algn="l"/>
            <a:r>
              <a:rPr sz="1200" b="0" i="0" strike="noStrike">
                <a:ln/>
                <a:solidFill>
                  <a:srgbClr val="0A1F3D">
                    <a:alpha val="85098"/>
                  </a:srgbClr>
                </a:solidFill>
                <a:latin typeface="FZYaYiHei GB18030L2 R"/>
                <a:ea typeface="FZYaYiHei GB18030L2 R"/>
                <a:cs typeface="FZYaYiHei GB18030L2 R"/>
              </a:rPr>
              <a:t>are visually presented on slides or screens</a:t>
            </a:r>
            <a:endParaRPr/>
          </a:p>
        </p:txBody>
      </p:sp>
      <p:sp>
        <p:nvSpPr>
          <p:cNvPr id="11" name="AutoShape 11"/>
          <p:cNvSpPr/>
          <p:nvPr/>
        </p:nvSpPr>
        <p:spPr>
          <a:xfrm>
            <a:off x="457086" y="4280595"/>
            <a:ext cx="228543" cy="228600"/>
          </a:xfrm>
          <a:prstGeom prst="ellipse">
            <a:avLst/>
          </a:prstGeom>
          <a:solidFill>
            <a:srgbClr val="5B8CB8">
              <a:alpha val="100000"/>
            </a:srgbClr>
          </a:solidFill>
          <a:ln>
            <a:headEnd type="none"/>
            <a:tailEnd type="none"/>
          </a:ln>
        </p:spPr>
      </p:sp>
      <p:sp>
        <p:nvSpPr>
          <p:cNvPr id="12" name="TextBox 12"/>
          <p:cNvSpPr txBox="1"/>
          <p:nvPr/>
        </p:nvSpPr>
        <p:spPr>
          <a:xfrm>
            <a:off x="536838" y="4321076"/>
            <a:ext cx="148791"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F1F3F5">
                    <a:alpha val="100000"/>
                  </a:srgbClr>
                </a:solidFill>
                <a:latin typeface="Alibaba PuHuiTi 3.0 55 Regular"/>
                <a:ea typeface="Alibaba PuHuiTi 3.0 55 Regular"/>
                <a:cs typeface="Alibaba PuHuiTi 3.0 55 Regular"/>
              </a:rPr>
              <a:t>2</a:t>
            </a:r>
            <a:endParaRPr lang="en-US" sz="1100"/>
          </a:p>
        </p:txBody>
      </p:sp>
      <p:sp>
        <p:nvSpPr>
          <p:cNvPr id="13" name="TextBox 13"/>
          <p:cNvSpPr txBox="1"/>
          <p:nvPr/>
        </p:nvSpPr>
        <p:spPr>
          <a:xfrm>
            <a:off x="837990" y="4309170"/>
            <a:ext cx="10893876"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Visual channels contain complementary evidence including slide text, subtitles, and on-screen graphics that remain inaccessible to audio-only processing</a:t>
            </a:r>
            <a:endParaRPr lang="en-US" sz="1100"/>
          </a:p>
          <a:p>
            <a:pPr algn="l"/>
            <a:r>
              <a:rPr sz="1200" b="0" i="0" strike="noStrike">
                <a:ln/>
                <a:solidFill>
                  <a:srgbClr val="0A1F3D">
                    <a:alpha val="85098"/>
                  </a:srgbClr>
                </a:solidFill>
                <a:latin typeface="FZYaYiHei GB18030L2 R"/>
                <a:ea typeface="FZYaYiHei GB18030L2 R"/>
                <a:cs typeface="FZYaYiHei GB18030L2 R"/>
              </a:rPr>
              <a:t>pipelines</a:t>
            </a:r>
            <a:endParaRPr/>
          </a:p>
        </p:txBody>
      </p:sp>
      <p:sp>
        <p:nvSpPr>
          <p:cNvPr id="14" name="AutoShape 14"/>
          <p:cNvSpPr/>
          <p:nvPr/>
        </p:nvSpPr>
        <p:spPr>
          <a:xfrm>
            <a:off x="457086" y="4989016"/>
            <a:ext cx="228543" cy="228600"/>
          </a:xfrm>
          <a:prstGeom prst="ellipse">
            <a:avLst/>
          </a:prstGeom>
          <a:solidFill>
            <a:srgbClr val="5B8CB8">
              <a:alpha val="100000"/>
            </a:srgbClr>
          </a:solidFill>
          <a:ln>
            <a:headEnd type="none"/>
            <a:tailEnd type="none"/>
          </a:ln>
        </p:spPr>
      </p:sp>
      <p:sp>
        <p:nvSpPr>
          <p:cNvPr id="15" name="TextBox 15"/>
          <p:cNvSpPr txBox="1"/>
          <p:nvPr/>
        </p:nvSpPr>
        <p:spPr>
          <a:xfrm>
            <a:off x="536838" y="5029497"/>
            <a:ext cx="148791"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F1F3F5">
                    <a:alpha val="100000"/>
                  </a:srgbClr>
                </a:solidFill>
                <a:latin typeface="Alibaba PuHuiTi 3.0 55 Regular"/>
                <a:ea typeface="Alibaba PuHuiTi 3.0 55 Regular"/>
                <a:cs typeface="Alibaba PuHuiTi 3.0 55 Regular"/>
              </a:rPr>
              <a:t>3</a:t>
            </a:r>
            <a:endParaRPr lang="en-US" sz="1100"/>
          </a:p>
        </p:txBody>
      </p:sp>
      <p:sp>
        <p:nvSpPr>
          <p:cNvPr id="16" name="TextBox 16"/>
          <p:cNvSpPr txBox="1"/>
          <p:nvPr/>
        </p:nvSpPr>
        <p:spPr>
          <a:xfrm>
            <a:off x="837990" y="5017591"/>
            <a:ext cx="10893876"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Domain glossaries provide prior knowledge about specialized vocabulary, creating opportunities for context-aware disambiguation when acoustic signals are</a:t>
            </a:r>
            <a:endParaRPr lang="en-US" sz="1100"/>
          </a:p>
          <a:p>
            <a:pPr algn="l"/>
            <a:r>
              <a:rPr sz="1200" b="0" i="0" strike="noStrike">
                <a:ln/>
                <a:solidFill>
                  <a:srgbClr val="0A1F3D">
                    <a:alpha val="85098"/>
                  </a:srgbClr>
                </a:solidFill>
                <a:latin typeface="FZYaYiHei GB18030L2 R"/>
                <a:ea typeface="FZYaYiHei GB18030L2 R"/>
                <a:cs typeface="FZYaYiHei GB18030L2 R"/>
              </a:rPr>
              <a:t>ambiguous</a:t>
            </a:r>
            <a:endParaRPr/>
          </a:p>
        </p:txBody>
      </p:sp>
      <p:sp>
        <p:nvSpPr>
          <p:cNvPr id="17" name="AutoShape 17"/>
          <p:cNvSpPr/>
          <p:nvPr/>
        </p:nvSpPr>
        <p:spPr>
          <a:xfrm>
            <a:off x="457086" y="5697438"/>
            <a:ext cx="228543" cy="228600"/>
          </a:xfrm>
          <a:prstGeom prst="ellipse">
            <a:avLst/>
          </a:prstGeom>
          <a:solidFill>
            <a:srgbClr val="5B8CB8">
              <a:alpha val="100000"/>
            </a:srgbClr>
          </a:solidFill>
          <a:ln>
            <a:headEnd type="none"/>
            <a:tailEnd type="none"/>
          </a:ln>
        </p:spPr>
      </p:sp>
      <p:sp>
        <p:nvSpPr>
          <p:cNvPr id="18" name="TextBox 18"/>
          <p:cNvSpPr txBox="1"/>
          <p:nvPr/>
        </p:nvSpPr>
        <p:spPr>
          <a:xfrm>
            <a:off x="536838" y="5737920"/>
            <a:ext cx="148791"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F1F3F5">
                    <a:alpha val="100000"/>
                  </a:srgbClr>
                </a:solidFill>
                <a:latin typeface="Alibaba PuHuiTi 3.0 55 Regular"/>
                <a:ea typeface="Alibaba PuHuiTi 3.0 55 Regular"/>
                <a:cs typeface="Alibaba PuHuiTi 3.0 55 Regular"/>
              </a:rPr>
              <a:t>4</a:t>
            </a:r>
            <a:endParaRPr lang="en-US" sz="1100"/>
          </a:p>
        </p:txBody>
      </p:sp>
      <p:sp>
        <p:nvSpPr>
          <p:cNvPr id="19" name="TextBox 19"/>
          <p:cNvSpPr txBox="1"/>
          <p:nvPr/>
        </p:nvSpPr>
        <p:spPr>
          <a:xfrm>
            <a:off x="837990" y="5726013"/>
            <a:ext cx="10893876"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The core hypothesis posits that timestamp-aligned fusion of audio confidence scores, visual evidence, and glossary matches can identify and correct high-error-</a:t>
            </a:r>
            <a:endParaRPr lang="en-US" sz="1100"/>
          </a:p>
          <a:p>
            <a:pPr algn="l"/>
            <a:r>
              <a:rPr sz="1200" b="0" i="0" strike="noStrike">
                <a:ln/>
                <a:solidFill>
                  <a:srgbClr val="0A1F3D">
                    <a:alpha val="85098"/>
                  </a:srgbClr>
                </a:solidFill>
                <a:latin typeface="FZYaYiHei GB18030L2 R"/>
                <a:ea typeface="FZYaYiHei GB18030L2 R"/>
                <a:cs typeface="FZYaYiHei GB18030L2 R"/>
              </a:rPr>
              <a:t>probability segments more effectively than single-modality approaches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Three Sources of Evidence</a:t>
            </a:r>
            <a:endParaRPr lang="en-US" sz="1100"/>
          </a:p>
        </p:txBody>
      </p:sp>
      <p:sp>
        <p:nvSpPr>
          <p:cNvPr id="5" name="AutoShape 5"/>
          <p:cNvSpPr/>
          <p:nvPr/>
        </p:nvSpPr>
        <p:spPr>
          <a:xfrm>
            <a:off x="457086" y="1390650"/>
            <a:ext cx="11274781" cy="1033462"/>
          </a:xfrm>
          <a:prstGeom prst="rect">
            <a:avLst/>
          </a:prstGeom>
          <a:solidFill>
            <a:srgbClr val="E8EBEF">
              <a:alpha val="100000"/>
            </a:srgbClr>
          </a:solidFill>
          <a:ln>
            <a:headEnd type="none"/>
            <a:tailEnd type="none"/>
          </a:ln>
        </p:spPr>
      </p:sp>
      <p:sp>
        <p:nvSpPr>
          <p:cNvPr id="6" name="AutoShape 6"/>
          <p:cNvSpPr/>
          <p:nvPr/>
        </p:nvSpPr>
        <p:spPr>
          <a:xfrm>
            <a:off x="457086" y="1390650"/>
            <a:ext cx="9522" cy="1033462"/>
          </a:xfrm>
          <a:prstGeom prst="line">
            <a:avLst/>
          </a:prstGeom>
          <a:ln w="28575">
            <a:solidFill>
              <a:srgbClr val="5B8CB8">
                <a:alpha val="100000"/>
              </a:srgbClr>
            </a:solidFill>
            <a:prstDash val="solid"/>
            <a:headEnd type="none"/>
            <a:tailEnd type="none"/>
          </a:ln>
        </p:spPr>
      </p:sp>
      <p:sp>
        <p:nvSpPr>
          <p:cNvPr id="7" name="TextBox 7"/>
          <p:cNvSpPr txBox="1"/>
          <p:nvPr/>
        </p:nvSpPr>
        <p:spPr>
          <a:xfrm>
            <a:off x="676106" y="1581150"/>
            <a:ext cx="11512846" cy="64770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The proposed system adopts a </a:t>
            </a:r>
            <a:r>
              <a:rPr sz="1100" b="1" i="0" strike="noStrike">
                <a:ln/>
                <a:solidFill>
                  <a:srgbClr val="0A1F3D">
                    <a:alpha val="85098"/>
                  </a:srgbClr>
                </a:solidFill>
                <a:latin typeface="FZYaYiHei GB18030L2 R"/>
                <a:ea typeface="FZYaYiHei GB18030L2 R"/>
                <a:cs typeface="FZYaYiHei GB18030L2 R"/>
              </a:rPr>
              <a:t>multimodal fusion strategy</a:t>
            </a:r>
            <a:r>
              <a:rPr sz="1100" b="0" i="0" strike="noStrike">
                <a:ln/>
                <a:solidFill>
                  <a:srgbClr val="0A1F3D">
                    <a:alpha val="85098"/>
                  </a:srgbClr>
                </a:solidFill>
                <a:latin typeface="FZYaYiHei GB18030L2 R"/>
                <a:ea typeface="FZYaYiHei GB18030L2 R"/>
                <a:cs typeface="FZYaYiHei GB18030L2 R"/>
              </a:rPr>
              <a:t> that triangulates evidence across audio, visual, and knowledge modalities. ASR confidence scores identify</a:t>
            </a:r>
            <a:endParaRPr lang="en-US" sz="1100"/>
          </a:p>
          <a:p>
            <a:pPr algn="l"/>
            <a:r>
              <a:rPr sz="1100" b="0" i="0" strike="noStrike">
                <a:ln/>
                <a:solidFill>
                  <a:srgbClr val="0A1F3D">
                    <a:alpha val="85098"/>
                  </a:srgbClr>
                </a:solidFill>
                <a:latin typeface="FZYaYiHei GB18030L2 R"/>
                <a:ea typeface="FZYaYiHei GB18030L2 R"/>
                <a:cs typeface="FZYaYiHei GB18030L2 R"/>
              </a:rPr>
              <a:t>uncertainty zones requiring verification, video frame analysis extracts textual and semantic context from presentation materials, and domain glossaries provide authoritative</a:t>
            </a:r>
            <a:endParaRPr/>
          </a:p>
          <a:p>
            <a:pPr algn="l"/>
            <a:r>
              <a:rPr sz="1100" b="0" i="0" strike="noStrike">
                <a:ln/>
                <a:solidFill>
                  <a:srgbClr val="0A1F3D">
                    <a:alpha val="85098"/>
                  </a:srgbClr>
                </a:solidFill>
                <a:latin typeface="FZYaYiHei GB18030L2 R"/>
                <a:ea typeface="FZYaYiHei GB18030L2 R"/>
                <a:cs typeface="FZYaYiHei GB18030L2 R"/>
              </a:rPr>
              <a:t>terminology references—creating a redundant evidence structure that compensates for individual modality limitations.</a:t>
            </a:r>
            <a:endParaRPr/>
          </a:p>
        </p:txBody>
      </p:sp>
      <p:sp>
        <p:nvSpPr>
          <p:cNvPr id="8" name="AutoShape 8"/>
          <p:cNvSpPr/>
          <p:nvPr/>
        </p:nvSpPr>
        <p:spPr>
          <a:xfrm>
            <a:off x="457086" y="2652712"/>
            <a:ext cx="3631242" cy="3748088"/>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2652712"/>
            <a:ext cx="3631242" cy="9525"/>
          </a:xfrm>
          <a:prstGeom prst="line">
            <a:avLst/>
          </a:prstGeom>
          <a:ln w="28575">
            <a:solidFill>
              <a:srgbClr val="5B8CB8">
                <a:alpha val="100000"/>
              </a:srgbClr>
            </a:solidFill>
            <a:prstDash val="solid"/>
            <a:headEnd type="none"/>
            <a:tailEnd type="none"/>
          </a:ln>
        </p:spPr>
      </p:sp>
      <p:sp>
        <p:nvSpPr>
          <p:cNvPr id="10" name="AutoShape 10"/>
          <p:cNvSpPr/>
          <p:nvPr/>
        </p:nvSpPr>
        <p:spPr>
          <a:xfrm>
            <a:off x="635099" y="2921258"/>
            <a:ext cx="198070" cy="198120"/>
          </a:xfrm>
          <a:custGeom>
            <a:avLst/>
            <a:gdLst/>
            <a:ahLst/>
            <a:cxnLst/>
            <a:rect l="l" t="t" r="r" b="b"/>
            <a:pathLst>
              <a:path w="9998" h="10000">
                <a:moveTo>
                  <a:pt x="4999" y="909"/>
                </a:moveTo>
                <a:cubicBezTo>
                  <a:pt x="4693" y="909"/>
                  <a:pt x="4411" y="969"/>
                  <a:pt x="4155" y="1091"/>
                </a:cubicBezTo>
                <a:cubicBezTo>
                  <a:pt x="3897" y="1212"/>
                  <a:pt x="3694" y="1377"/>
                  <a:pt x="3545" y="1586"/>
                </a:cubicBezTo>
                <a:cubicBezTo>
                  <a:pt x="3395" y="1795"/>
                  <a:pt x="3321" y="2024"/>
                  <a:pt x="3321" y="2273"/>
                </a:cubicBezTo>
                <a:lnTo>
                  <a:pt x="3321" y="4091"/>
                </a:lnTo>
                <a:cubicBezTo>
                  <a:pt x="3321" y="4339"/>
                  <a:pt x="3395" y="4568"/>
                  <a:pt x="3545" y="4777"/>
                </a:cubicBezTo>
                <a:cubicBezTo>
                  <a:pt x="3694" y="4986"/>
                  <a:pt x="3897" y="5151"/>
                  <a:pt x="4155" y="5273"/>
                </a:cubicBezTo>
                <a:cubicBezTo>
                  <a:pt x="4411" y="5394"/>
                  <a:pt x="4693" y="5455"/>
                  <a:pt x="4999" y="5455"/>
                </a:cubicBezTo>
                <a:cubicBezTo>
                  <a:pt x="5305" y="5455"/>
                  <a:pt x="5586" y="5394"/>
                  <a:pt x="5843" y="5273"/>
                </a:cubicBezTo>
                <a:cubicBezTo>
                  <a:pt x="6100" y="5151"/>
                  <a:pt x="6303" y="4986"/>
                  <a:pt x="6453" y="4777"/>
                </a:cubicBezTo>
                <a:cubicBezTo>
                  <a:pt x="6602" y="4568"/>
                  <a:pt x="6677" y="4339"/>
                  <a:pt x="6677" y="4091"/>
                </a:cubicBezTo>
                <a:lnTo>
                  <a:pt x="6677" y="2273"/>
                </a:lnTo>
                <a:cubicBezTo>
                  <a:pt x="6677" y="2024"/>
                  <a:pt x="6602" y="1795"/>
                  <a:pt x="6453" y="1586"/>
                </a:cubicBezTo>
                <a:cubicBezTo>
                  <a:pt x="6303" y="1377"/>
                  <a:pt x="6100" y="1212"/>
                  <a:pt x="5843" y="1091"/>
                </a:cubicBezTo>
                <a:cubicBezTo>
                  <a:pt x="5586" y="969"/>
                  <a:pt x="5305" y="909"/>
                  <a:pt x="4999" y="909"/>
                </a:cubicBezTo>
                <a:moveTo>
                  <a:pt x="4999" y="0"/>
                </a:moveTo>
                <a:cubicBezTo>
                  <a:pt x="5505" y="0"/>
                  <a:pt x="5973" y="101"/>
                  <a:pt x="6403" y="305"/>
                </a:cubicBezTo>
                <a:cubicBezTo>
                  <a:pt x="6831" y="507"/>
                  <a:pt x="7170" y="783"/>
                  <a:pt x="7420" y="1132"/>
                </a:cubicBezTo>
                <a:cubicBezTo>
                  <a:pt x="7670" y="1480"/>
                  <a:pt x="7795" y="1861"/>
                  <a:pt x="7795" y="2273"/>
                </a:cubicBezTo>
                <a:lnTo>
                  <a:pt x="7795" y="4091"/>
                </a:lnTo>
                <a:cubicBezTo>
                  <a:pt x="7795" y="4503"/>
                  <a:pt x="7670" y="4883"/>
                  <a:pt x="7420" y="5232"/>
                </a:cubicBezTo>
                <a:cubicBezTo>
                  <a:pt x="7170" y="5580"/>
                  <a:pt x="6831" y="5856"/>
                  <a:pt x="6403" y="6059"/>
                </a:cubicBezTo>
                <a:cubicBezTo>
                  <a:pt x="5973" y="6262"/>
                  <a:pt x="5505" y="6364"/>
                  <a:pt x="4999" y="6364"/>
                </a:cubicBezTo>
                <a:cubicBezTo>
                  <a:pt x="4492" y="6364"/>
                  <a:pt x="4024" y="6262"/>
                  <a:pt x="3595" y="6059"/>
                </a:cubicBezTo>
                <a:cubicBezTo>
                  <a:pt x="3166" y="5856"/>
                  <a:pt x="2827" y="5580"/>
                  <a:pt x="2578" y="5232"/>
                </a:cubicBezTo>
                <a:cubicBezTo>
                  <a:pt x="2328" y="4883"/>
                  <a:pt x="2203" y="4503"/>
                  <a:pt x="2203" y="4091"/>
                </a:cubicBezTo>
                <a:lnTo>
                  <a:pt x="2203" y="2273"/>
                </a:lnTo>
                <a:cubicBezTo>
                  <a:pt x="2203" y="1861"/>
                  <a:pt x="2328" y="1480"/>
                  <a:pt x="2578" y="1132"/>
                </a:cubicBezTo>
                <a:cubicBezTo>
                  <a:pt x="2827" y="783"/>
                  <a:pt x="3166" y="507"/>
                  <a:pt x="3595" y="305"/>
                </a:cubicBezTo>
                <a:cubicBezTo>
                  <a:pt x="4024" y="101"/>
                  <a:pt x="4492" y="0"/>
                  <a:pt x="4999" y="0"/>
                </a:cubicBezTo>
                <a:moveTo>
                  <a:pt x="0" y="4545"/>
                </a:moveTo>
                <a:lnTo>
                  <a:pt x="1130" y="4545"/>
                </a:lnTo>
                <a:cubicBezTo>
                  <a:pt x="1219" y="5054"/>
                  <a:pt x="1444" y="5516"/>
                  <a:pt x="1806" y="5932"/>
                </a:cubicBezTo>
                <a:cubicBezTo>
                  <a:pt x="2168" y="6347"/>
                  <a:pt x="2624" y="6673"/>
                  <a:pt x="3176" y="6909"/>
                </a:cubicBezTo>
                <a:cubicBezTo>
                  <a:pt x="3742" y="7151"/>
                  <a:pt x="4350" y="7273"/>
                  <a:pt x="4999" y="7273"/>
                </a:cubicBezTo>
                <a:cubicBezTo>
                  <a:pt x="5647" y="7273"/>
                  <a:pt x="6255" y="7151"/>
                  <a:pt x="6822" y="6909"/>
                </a:cubicBezTo>
                <a:cubicBezTo>
                  <a:pt x="7373" y="6673"/>
                  <a:pt x="7830" y="6347"/>
                  <a:pt x="8192" y="5932"/>
                </a:cubicBezTo>
                <a:cubicBezTo>
                  <a:pt x="8553" y="5516"/>
                  <a:pt x="8778" y="5054"/>
                  <a:pt x="8868" y="4545"/>
                </a:cubicBezTo>
                <a:lnTo>
                  <a:pt x="9998" y="4545"/>
                </a:lnTo>
                <a:cubicBezTo>
                  <a:pt x="9916" y="5169"/>
                  <a:pt x="9666" y="5748"/>
                  <a:pt x="9249" y="6282"/>
                </a:cubicBezTo>
                <a:cubicBezTo>
                  <a:pt x="8846" y="6797"/>
                  <a:pt x="8328" y="7218"/>
                  <a:pt x="7694" y="7545"/>
                </a:cubicBezTo>
                <a:cubicBezTo>
                  <a:pt x="7038" y="7885"/>
                  <a:pt x="6326" y="8088"/>
                  <a:pt x="5558" y="8155"/>
                </a:cubicBezTo>
                <a:lnTo>
                  <a:pt x="5558" y="10000"/>
                </a:lnTo>
                <a:lnTo>
                  <a:pt x="4440" y="10000"/>
                </a:lnTo>
                <a:lnTo>
                  <a:pt x="4440" y="8155"/>
                </a:lnTo>
                <a:cubicBezTo>
                  <a:pt x="3672" y="8088"/>
                  <a:pt x="2960" y="7885"/>
                  <a:pt x="2304" y="7545"/>
                </a:cubicBezTo>
                <a:cubicBezTo>
                  <a:pt x="1670" y="7218"/>
                  <a:pt x="1151" y="6797"/>
                  <a:pt x="749" y="6282"/>
                </a:cubicBezTo>
                <a:cubicBezTo>
                  <a:pt x="331" y="5748"/>
                  <a:pt x="82" y="5169"/>
                  <a:pt x="0" y="4545"/>
                </a:cubicBezTo>
              </a:path>
            </a:pathLst>
          </a:custGeom>
          <a:solidFill>
            <a:srgbClr val="5B8CB8">
              <a:alpha val="100000"/>
            </a:srgbClr>
          </a:solidFill>
          <a:ln>
            <a:headEnd type="none"/>
            <a:tailEnd type="none"/>
          </a:ln>
        </p:spPr>
      </p:sp>
      <p:sp>
        <p:nvSpPr>
          <p:cNvPr id="11" name="TextBox 11"/>
          <p:cNvSpPr txBox="1"/>
          <p:nvPr/>
        </p:nvSpPr>
        <p:spPr>
          <a:xfrm>
            <a:off x="906435" y="2924622"/>
            <a:ext cx="2250463" cy="18097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100000"/>
                  </a:srgbClr>
                </a:solidFill>
                <a:latin typeface="Alibaba PuHuiTi 3.0 55 Regular"/>
                <a:ea typeface="Alibaba PuHuiTi 3.0 55 Regular"/>
                <a:cs typeface="Alibaba PuHuiTi 3.0 55 Regular"/>
              </a:rPr>
              <a:t>ASR Output with Confidence</a:t>
            </a:r>
            <a:endParaRPr lang="en-US" sz="1100"/>
          </a:p>
        </p:txBody>
      </p:sp>
      <p:sp>
        <p:nvSpPr>
          <p:cNvPr id="12" name="TextBox 12"/>
          <p:cNvSpPr txBox="1"/>
          <p:nvPr/>
        </p:nvSpPr>
        <p:spPr>
          <a:xfrm>
            <a:off x="657061" y="3321248"/>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13" name="TextBox 13"/>
          <p:cNvSpPr txBox="1"/>
          <p:nvPr/>
        </p:nvSpPr>
        <p:spPr>
          <a:xfrm>
            <a:off x="837545" y="3330773"/>
            <a:ext cx="3050809" cy="792212"/>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WhisperX provides word-level timestamps and</a:t>
            </a:r>
            <a:endParaRPr lang="en-US" sz="1100"/>
          </a:p>
          <a:p>
            <a:pPr algn="l"/>
            <a:r>
              <a:rPr sz="1000" b="0" i="0" strike="noStrike">
                <a:ln/>
                <a:solidFill>
                  <a:srgbClr val="0A1F3D">
                    <a:alpha val="85098"/>
                  </a:srgbClr>
                </a:solidFill>
                <a:latin typeface="FZYaYiHei GB18030L2 R"/>
                <a:ea typeface="FZYaYiHei GB18030L2 R"/>
                <a:cs typeface="FZYaYiHei GB18030L2 R"/>
              </a:rPr>
              <a:t>confidence scores, enabling targeted intervention</a:t>
            </a:r>
            <a:endParaRPr/>
          </a:p>
          <a:p>
            <a:pPr algn="l"/>
            <a:r>
              <a:rPr sz="1000" b="0" i="0" strike="noStrike">
                <a:ln/>
                <a:solidFill>
                  <a:srgbClr val="0A1F3D">
                    <a:alpha val="85098"/>
                  </a:srgbClr>
                </a:solidFill>
                <a:latin typeface="FZYaYiHei GB18030L2 R"/>
                <a:ea typeface="FZYaYiHei GB18030L2 R"/>
                <a:cs typeface="FZYaYiHei GB18030L2 R"/>
              </a:rPr>
              <a:t>on low-probability segments rather than full-text</a:t>
            </a:r>
            <a:endParaRPr/>
          </a:p>
          <a:p>
            <a:pPr algn="l"/>
            <a:r>
              <a:rPr sz="1000" b="0" i="0" strike="noStrike">
                <a:ln/>
                <a:solidFill>
                  <a:srgbClr val="0A1F3D">
                    <a:alpha val="85098"/>
                  </a:srgbClr>
                </a:solidFill>
                <a:latin typeface="FZYaYiHei GB18030L2 R"/>
                <a:ea typeface="FZYaYiHei GB18030L2 R"/>
                <a:cs typeface="FZYaYiHei GB18030L2 R"/>
              </a:rPr>
              <a:t>processing</a:t>
            </a:r>
            <a:endParaRPr/>
          </a:p>
        </p:txBody>
      </p:sp>
      <p:sp>
        <p:nvSpPr>
          <p:cNvPr id="14" name="TextBox 14"/>
          <p:cNvSpPr txBox="1"/>
          <p:nvPr/>
        </p:nvSpPr>
        <p:spPr>
          <a:xfrm>
            <a:off x="657061" y="4288631"/>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15" name="TextBox 15"/>
          <p:cNvSpPr txBox="1"/>
          <p:nvPr/>
        </p:nvSpPr>
        <p:spPr>
          <a:xfrm>
            <a:off x="837545" y="4298156"/>
            <a:ext cx="3076401" cy="792212"/>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Acoustic uncertainty often clusters around technical</a:t>
            </a:r>
            <a:endParaRPr lang="en-US" sz="1100"/>
          </a:p>
          <a:p>
            <a:pPr algn="l"/>
            <a:r>
              <a:rPr sz="1000" b="0" i="0" strike="noStrike">
                <a:ln/>
                <a:solidFill>
                  <a:srgbClr val="0A1F3D">
                    <a:alpha val="85098"/>
                  </a:srgbClr>
                </a:solidFill>
                <a:latin typeface="FZYaYiHei GB18030L2 R"/>
                <a:ea typeface="FZYaYiHei GB18030L2 R"/>
                <a:cs typeface="FZYaYiHei GB18030L2 R"/>
              </a:rPr>
              <a:t>terminology and proper nouns where phonetic</a:t>
            </a:r>
            <a:endParaRPr/>
          </a:p>
          <a:p>
            <a:pPr algn="l"/>
            <a:r>
              <a:rPr sz="1000" b="0" i="0" strike="noStrike">
                <a:ln/>
                <a:solidFill>
                  <a:srgbClr val="0A1F3D">
                    <a:alpha val="85098"/>
                  </a:srgbClr>
                </a:solidFill>
                <a:latin typeface="FZYaYiHei GB18030L2 R"/>
                <a:ea typeface="FZYaYiHei GB18030L2 R"/>
                <a:cs typeface="FZYaYiHei GB18030L2 R"/>
              </a:rPr>
              <a:t>similarity creates ambiguity in domain-specific</a:t>
            </a:r>
            <a:endParaRPr/>
          </a:p>
          <a:p>
            <a:pPr algn="l"/>
            <a:r>
              <a:rPr sz="1000" b="0" i="0" strike="noStrike">
                <a:ln/>
                <a:solidFill>
                  <a:srgbClr val="0A1F3D">
                    <a:alpha val="85098"/>
                  </a:srgbClr>
                </a:solidFill>
                <a:latin typeface="FZYaYiHei GB18030L2 R"/>
                <a:ea typeface="FZYaYiHei GB18030L2 R"/>
                <a:cs typeface="FZYaYiHei GB18030L2 R"/>
              </a:rPr>
              <a:t>contexts</a:t>
            </a:r>
            <a:endParaRPr/>
          </a:p>
        </p:txBody>
      </p:sp>
      <p:sp>
        <p:nvSpPr>
          <p:cNvPr id="16" name="AutoShape 16"/>
          <p:cNvSpPr/>
          <p:nvPr/>
        </p:nvSpPr>
        <p:spPr>
          <a:xfrm>
            <a:off x="4278780" y="2652712"/>
            <a:ext cx="3631242" cy="3748088"/>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4278780" y="2652712"/>
            <a:ext cx="3631242" cy="9525"/>
          </a:xfrm>
          <a:prstGeom prst="line">
            <a:avLst/>
          </a:prstGeom>
          <a:ln w="28575">
            <a:solidFill>
              <a:srgbClr val="5B8CB8">
                <a:alpha val="100000"/>
              </a:srgbClr>
            </a:solidFill>
            <a:prstDash val="solid"/>
            <a:headEnd type="none"/>
            <a:tailEnd type="none"/>
          </a:ln>
        </p:spPr>
      </p:sp>
      <p:sp>
        <p:nvSpPr>
          <p:cNvPr id="18" name="AutoShape 18"/>
          <p:cNvSpPr/>
          <p:nvPr/>
        </p:nvSpPr>
        <p:spPr>
          <a:xfrm>
            <a:off x="4456794" y="2921258"/>
            <a:ext cx="198070" cy="198120"/>
          </a:xfrm>
          <a:custGeom>
            <a:avLst/>
            <a:gdLst/>
            <a:ahLst/>
            <a:cxnLst/>
            <a:rect l="l" t="t" r="r" b="b"/>
            <a:pathLst>
              <a:path w="9998" h="10000">
                <a:moveTo>
                  <a:pt x="9498" y="10000"/>
                </a:move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moveTo>
                  <a:pt x="5999" y="3333"/>
                </a:moveTo>
                <a:lnTo>
                  <a:pt x="8998" y="6667"/>
                </a:lnTo>
                <a:lnTo>
                  <a:pt x="8998" y="1111"/>
                </a:lnTo>
                <a:lnTo>
                  <a:pt x="1000" y="1111"/>
                </a:lnTo>
                <a:lnTo>
                  <a:pt x="1000" y="8889"/>
                </a:lnTo>
                <a:lnTo>
                  <a:pt x="5999" y="3333"/>
                </a:lnTo>
                <a:moveTo>
                  <a:pt x="8998" y="8889"/>
                </a:moveTo>
                <a:lnTo>
                  <a:pt x="8998" y="8233"/>
                </a:lnTo>
                <a:lnTo>
                  <a:pt x="5999" y="4900"/>
                </a:lnTo>
                <a:lnTo>
                  <a:pt x="2410" y="8889"/>
                </a:lnTo>
                <a:lnTo>
                  <a:pt x="8998" y="8889"/>
                </a:lnTo>
                <a:moveTo>
                  <a:pt x="2999" y="4444"/>
                </a:moveTo>
                <a:cubicBezTo>
                  <a:pt x="2819" y="4444"/>
                  <a:pt x="2652" y="4394"/>
                  <a:pt x="2500" y="4294"/>
                </a:cubicBezTo>
                <a:cubicBezTo>
                  <a:pt x="2346" y="4194"/>
                  <a:pt x="2225" y="4059"/>
                  <a:pt x="2135" y="3889"/>
                </a:cubicBezTo>
                <a:cubicBezTo>
                  <a:pt x="2045" y="3718"/>
                  <a:pt x="2000" y="3533"/>
                  <a:pt x="2000" y="3333"/>
                </a:cubicBezTo>
                <a:cubicBezTo>
                  <a:pt x="2000" y="3133"/>
                  <a:pt x="2045" y="2948"/>
                  <a:pt x="2135" y="2778"/>
                </a:cubicBezTo>
                <a:cubicBezTo>
                  <a:pt x="2225" y="2607"/>
                  <a:pt x="2346" y="2472"/>
                  <a:pt x="2500" y="2372"/>
                </a:cubicBezTo>
                <a:cubicBezTo>
                  <a:pt x="2652" y="2272"/>
                  <a:pt x="2819" y="2222"/>
                  <a:pt x="2999" y="2222"/>
                </a:cubicBezTo>
                <a:cubicBezTo>
                  <a:pt x="3179" y="2222"/>
                  <a:pt x="3345" y="2272"/>
                  <a:pt x="3499" y="2372"/>
                </a:cubicBezTo>
                <a:cubicBezTo>
                  <a:pt x="3652" y="2472"/>
                  <a:pt x="3774" y="2607"/>
                  <a:pt x="3864" y="2778"/>
                </a:cubicBezTo>
                <a:cubicBezTo>
                  <a:pt x="3954" y="2948"/>
                  <a:pt x="3999" y="3133"/>
                  <a:pt x="3999" y="3333"/>
                </a:cubicBezTo>
                <a:cubicBezTo>
                  <a:pt x="3999" y="3533"/>
                  <a:pt x="3954" y="3718"/>
                  <a:pt x="3864" y="3889"/>
                </a:cubicBezTo>
                <a:cubicBezTo>
                  <a:pt x="3774" y="4059"/>
                  <a:pt x="3652" y="4194"/>
                  <a:pt x="3499" y="4294"/>
                </a:cubicBezTo>
                <a:cubicBezTo>
                  <a:pt x="3345" y="4394"/>
                  <a:pt x="3179" y="4444"/>
                  <a:pt x="2999" y="4444"/>
                </a:cubicBezTo>
              </a:path>
            </a:pathLst>
          </a:custGeom>
          <a:solidFill>
            <a:srgbClr val="5B8CB8">
              <a:alpha val="100000"/>
            </a:srgbClr>
          </a:solidFill>
          <a:ln>
            <a:headEnd type="none"/>
            <a:tailEnd type="none"/>
          </a:ln>
        </p:spPr>
      </p:sp>
      <p:sp>
        <p:nvSpPr>
          <p:cNvPr id="19" name="TextBox 19"/>
          <p:cNvSpPr txBox="1"/>
          <p:nvPr/>
        </p:nvSpPr>
        <p:spPr>
          <a:xfrm>
            <a:off x="4728129" y="2924622"/>
            <a:ext cx="1747846" cy="18097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100000"/>
                  </a:srgbClr>
                </a:solidFill>
                <a:latin typeface="Alibaba PuHuiTi 3.0 55 Regular"/>
                <a:ea typeface="Alibaba PuHuiTi 3.0 55 Regular"/>
                <a:cs typeface="Alibaba PuHuiTi 3.0 55 Regular"/>
              </a:rPr>
              <a:t>Visual Frame Analysis</a:t>
            </a:r>
            <a:endParaRPr lang="en-US" sz="1100"/>
          </a:p>
        </p:txBody>
      </p:sp>
      <p:sp>
        <p:nvSpPr>
          <p:cNvPr id="20" name="TextBox 20"/>
          <p:cNvSpPr txBox="1"/>
          <p:nvPr/>
        </p:nvSpPr>
        <p:spPr>
          <a:xfrm>
            <a:off x="4478755" y="3321248"/>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21" name="TextBox 21"/>
          <p:cNvSpPr txBox="1"/>
          <p:nvPr/>
        </p:nvSpPr>
        <p:spPr>
          <a:xfrm>
            <a:off x="4659239" y="3330773"/>
            <a:ext cx="3050809" cy="792212"/>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Strategic frame sampling around scene transitions</a:t>
            </a:r>
            <a:endParaRPr lang="en-US" sz="1100"/>
          </a:p>
          <a:p>
            <a:pPr algn="l"/>
            <a:r>
              <a:rPr sz="1000" b="0" i="0" strike="noStrike">
                <a:ln/>
                <a:solidFill>
                  <a:srgbClr val="0A1F3D">
                    <a:alpha val="85098"/>
                  </a:srgbClr>
                </a:solidFill>
                <a:latin typeface="FZYaYiHei GB18030L2 R"/>
                <a:ea typeface="FZYaYiHei GB18030L2 R"/>
                <a:cs typeface="FZYaYiHei GB18030L2 R"/>
              </a:rPr>
              <a:t>and low-confidence timestamps captures</a:t>
            </a:r>
            <a:endParaRPr/>
          </a:p>
          <a:p>
            <a:pPr algn="l"/>
            <a:r>
              <a:rPr sz="1000" b="0" i="0" strike="noStrike">
                <a:ln/>
                <a:solidFill>
                  <a:srgbClr val="0A1F3D">
                    <a:alpha val="85098"/>
                  </a:srgbClr>
                </a:solidFill>
                <a:latin typeface="FZYaYiHei GB18030L2 R"/>
                <a:ea typeface="FZYaYiHei GB18030L2 R"/>
                <a:cs typeface="FZYaYiHei GB18030L2 R"/>
              </a:rPr>
              <a:t>presentation slides containing textual</a:t>
            </a:r>
            <a:endParaRPr/>
          </a:p>
          <a:p>
            <a:pPr algn="l"/>
            <a:r>
              <a:rPr sz="1000" b="0" i="0" strike="noStrike">
                <a:ln/>
                <a:solidFill>
                  <a:srgbClr val="0A1F3D">
                    <a:alpha val="85098"/>
                  </a:srgbClr>
                </a:solidFill>
                <a:latin typeface="FZYaYiHei GB18030L2 R"/>
                <a:ea typeface="FZYaYiHei GB18030L2 R"/>
                <a:cs typeface="FZYaYiHei GB18030L2 R"/>
              </a:rPr>
              <a:t>disambiguation cues</a:t>
            </a:r>
            <a:endParaRPr/>
          </a:p>
        </p:txBody>
      </p:sp>
      <p:sp>
        <p:nvSpPr>
          <p:cNvPr id="22" name="TextBox 22"/>
          <p:cNvSpPr txBox="1"/>
          <p:nvPr/>
        </p:nvSpPr>
        <p:spPr>
          <a:xfrm>
            <a:off x="4478755" y="4288631"/>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23" name="TextBox 23"/>
          <p:cNvSpPr txBox="1"/>
          <p:nvPr/>
        </p:nvSpPr>
        <p:spPr>
          <a:xfrm>
            <a:off x="4659239" y="4298156"/>
            <a:ext cx="3051702" cy="57894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Vision-language models extract visible text, identify</a:t>
            </a:r>
            <a:endParaRPr lang="en-US" sz="1100"/>
          </a:p>
          <a:p>
            <a:pPr algn="l"/>
            <a:r>
              <a:rPr sz="1000" b="0" i="0" strike="noStrike">
                <a:ln/>
                <a:solidFill>
                  <a:srgbClr val="0A1F3D">
                    <a:alpha val="85098"/>
                  </a:srgbClr>
                </a:solidFill>
                <a:latin typeface="FZYaYiHei GB18030L2 R"/>
                <a:ea typeface="FZYaYiHei GB18030L2 R"/>
                <a:cs typeface="FZYaYiHei GB18030L2 R"/>
              </a:rPr>
              <a:t>technical concepts, and provide semantic context</a:t>
            </a:r>
            <a:endParaRPr/>
          </a:p>
          <a:p>
            <a:pPr algn="l"/>
            <a:r>
              <a:rPr sz="1000" b="0" i="0" strike="noStrike">
                <a:ln/>
                <a:solidFill>
                  <a:srgbClr val="0A1F3D">
                    <a:alpha val="85098"/>
                  </a:srgbClr>
                </a:solidFill>
                <a:latin typeface="FZYaYiHei GB18030L2 R"/>
                <a:ea typeface="FZYaYiHei GB18030L2 R"/>
                <a:cs typeface="FZYaYiHei GB18030L2 R"/>
              </a:rPr>
              <a:t>unavailable through audio channels alone</a:t>
            </a:r>
            <a:endParaRPr/>
          </a:p>
        </p:txBody>
      </p:sp>
      <p:sp>
        <p:nvSpPr>
          <p:cNvPr id="24" name="AutoShape 24"/>
          <p:cNvSpPr/>
          <p:nvPr/>
        </p:nvSpPr>
        <p:spPr>
          <a:xfrm>
            <a:off x="8100475" y="2652712"/>
            <a:ext cx="3631391" cy="3748088"/>
          </a:xfrm>
          <a:prstGeom prst="rect">
            <a:avLst/>
          </a:prstGeom>
          <a:solidFill>
            <a:srgbClr val="E8EBEF">
              <a:alpha val="100000"/>
            </a:srgbClr>
          </a:solidFill>
          <a:ln w="9525">
            <a:solidFill>
              <a:srgbClr val="C5CDD6">
                <a:alpha val="100000"/>
              </a:srgbClr>
            </a:solidFill>
            <a:prstDash val="solid"/>
            <a:headEnd type="none"/>
            <a:tailEnd type="none"/>
          </a:ln>
        </p:spPr>
      </p:sp>
      <p:sp>
        <p:nvSpPr>
          <p:cNvPr id="25" name="AutoShape 25"/>
          <p:cNvSpPr/>
          <p:nvPr/>
        </p:nvSpPr>
        <p:spPr>
          <a:xfrm>
            <a:off x="8100475" y="2652712"/>
            <a:ext cx="3631391" cy="9525"/>
          </a:xfrm>
          <a:prstGeom prst="line">
            <a:avLst/>
          </a:prstGeom>
          <a:ln w="28575">
            <a:solidFill>
              <a:srgbClr val="5B8CB8">
                <a:alpha val="100000"/>
              </a:srgbClr>
            </a:solidFill>
            <a:prstDash val="solid"/>
            <a:headEnd type="none"/>
            <a:tailEnd type="none"/>
          </a:ln>
        </p:spPr>
      </p:sp>
      <p:sp>
        <p:nvSpPr>
          <p:cNvPr id="26" name="AutoShape 26"/>
          <p:cNvSpPr/>
          <p:nvPr/>
        </p:nvSpPr>
        <p:spPr>
          <a:xfrm>
            <a:off x="8278489" y="2921258"/>
            <a:ext cx="198070" cy="198120"/>
          </a:xfrm>
          <a:custGeom>
            <a:avLst/>
            <a:gdLst/>
            <a:ahLst/>
            <a:cxnLst/>
            <a:rect l="l" t="t" r="r" b="b"/>
            <a:pathLst>
              <a:path w="9998" h="10000">
                <a:moveTo>
                  <a:pt x="9498" y="9000"/>
                </a:moveTo>
                <a:lnTo>
                  <a:pt x="5499" y="9000"/>
                </a:lnTo>
                <a:lnTo>
                  <a:pt x="5499" y="10000"/>
                </a:lnTo>
                <a:lnTo>
                  <a:pt x="4499" y="10000"/>
                </a:lnTo>
                <a:lnTo>
                  <a:pt x="4499" y="9000"/>
                </a:lnTo>
                <a:lnTo>
                  <a:pt x="500" y="9000"/>
                </a:lnTo>
                <a:cubicBezTo>
                  <a:pt x="360" y="9000"/>
                  <a:pt x="241" y="8951"/>
                  <a:pt x="145" y="8855"/>
                </a:cubicBezTo>
                <a:cubicBezTo>
                  <a:pt x="48" y="8758"/>
                  <a:pt x="0" y="8640"/>
                  <a:pt x="0" y="8500"/>
                </a:cubicBezTo>
                <a:lnTo>
                  <a:pt x="0" y="500"/>
                </a:lnTo>
                <a:cubicBezTo>
                  <a:pt x="0" y="360"/>
                  <a:pt x="48" y="241"/>
                  <a:pt x="145" y="145"/>
                </a:cubicBezTo>
                <a:cubicBezTo>
                  <a:pt x="241" y="48"/>
                  <a:pt x="360" y="0"/>
                  <a:pt x="500" y="0"/>
                </a:cubicBezTo>
                <a:lnTo>
                  <a:pt x="3499" y="0"/>
                </a:lnTo>
                <a:cubicBezTo>
                  <a:pt x="3792" y="0"/>
                  <a:pt x="4069" y="60"/>
                  <a:pt x="4329" y="180"/>
                </a:cubicBezTo>
                <a:cubicBezTo>
                  <a:pt x="4589" y="300"/>
                  <a:pt x="4812" y="466"/>
                  <a:pt x="4999" y="680"/>
                </a:cubicBezTo>
                <a:cubicBezTo>
                  <a:pt x="5185" y="466"/>
                  <a:pt x="5409" y="300"/>
                  <a:pt x="5669" y="180"/>
                </a:cubicBezTo>
                <a:cubicBezTo>
                  <a:pt x="5929" y="60"/>
                  <a:pt x="6205" y="0"/>
                  <a:pt x="6499" y="0"/>
                </a:cubicBezTo>
                <a:lnTo>
                  <a:pt x="9498" y="0"/>
                </a:lnTo>
                <a:cubicBezTo>
                  <a:pt x="9638" y="0"/>
                  <a:pt x="9756" y="48"/>
                  <a:pt x="9853" y="145"/>
                </a:cubicBezTo>
                <a:cubicBezTo>
                  <a:pt x="9949" y="241"/>
                  <a:pt x="9998" y="360"/>
                  <a:pt x="9998" y="500"/>
                </a:cubicBezTo>
                <a:lnTo>
                  <a:pt x="9998" y="8500"/>
                </a:lnTo>
                <a:cubicBezTo>
                  <a:pt x="9998" y="8640"/>
                  <a:pt x="9949" y="8758"/>
                  <a:pt x="9853" y="8855"/>
                </a:cubicBezTo>
                <a:cubicBezTo>
                  <a:pt x="9756" y="8951"/>
                  <a:pt x="9638" y="9000"/>
                  <a:pt x="9498" y="9000"/>
                </a:cubicBezTo>
                <a:moveTo>
                  <a:pt x="5499" y="8000"/>
                </a:moveTo>
                <a:lnTo>
                  <a:pt x="8998" y="8000"/>
                </a:lnTo>
                <a:lnTo>
                  <a:pt x="8998" y="1000"/>
                </a:lnTo>
                <a:lnTo>
                  <a:pt x="6499" y="1000"/>
                </a:lnTo>
                <a:cubicBezTo>
                  <a:pt x="6319" y="1000"/>
                  <a:pt x="6152" y="1045"/>
                  <a:pt x="5999" y="1135"/>
                </a:cubicBezTo>
                <a:cubicBezTo>
                  <a:pt x="5845" y="1225"/>
                  <a:pt x="5724" y="1346"/>
                  <a:pt x="5634" y="1500"/>
                </a:cubicBezTo>
                <a:cubicBezTo>
                  <a:pt x="5544" y="1653"/>
                  <a:pt x="5499" y="1820"/>
                  <a:pt x="5499" y="2000"/>
                </a:cubicBezTo>
                <a:lnTo>
                  <a:pt x="5499" y="8000"/>
                </a:lnTo>
                <a:moveTo>
                  <a:pt x="1000" y="8000"/>
                </a:moveTo>
                <a:lnTo>
                  <a:pt x="4499" y="8000"/>
                </a:lnTo>
                <a:lnTo>
                  <a:pt x="4499" y="2000"/>
                </a:lnTo>
                <a:cubicBezTo>
                  <a:pt x="4499" y="1820"/>
                  <a:pt x="4454" y="1653"/>
                  <a:pt x="4364" y="1500"/>
                </a:cubicBezTo>
                <a:cubicBezTo>
                  <a:pt x="4274" y="1346"/>
                  <a:pt x="4152" y="1225"/>
                  <a:pt x="3999" y="1135"/>
                </a:cubicBezTo>
                <a:cubicBezTo>
                  <a:pt x="3845" y="1045"/>
                  <a:pt x="3679" y="1000"/>
                  <a:pt x="3499" y="1000"/>
                </a:cubicBezTo>
                <a:lnTo>
                  <a:pt x="1000" y="1000"/>
                </a:lnTo>
              </a:path>
            </a:pathLst>
          </a:custGeom>
          <a:solidFill>
            <a:srgbClr val="5B8CB8">
              <a:alpha val="100000"/>
            </a:srgbClr>
          </a:solidFill>
          <a:ln>
            <a:headEnd type="none"/>
            <a:tailEnd type="none"/>
          </a:ln>
        </p:spPr>
      </p:sp>
      <p:sp>
        <p:nvSpPr>
          <p:cNvPr id="27" name="TextBox 27"/>
          <p:cNvSpPr txBox="1"/>
          <p:nvPr/>
        </p:nvSpPr>
        <p:spPr>
          <a:xfrm>
            <a:off x="8549824" y="2924622"/>
            <a:ext cx="1369620" cy="180975"/>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100000"/>
                  </a:srgbClr>
                </a:solidFill>
                <a:latin typeface="Alibaba PuHuiTi 3.0 55 Regular"/>
                <a:ea typeface="Alibaba PuHuiTi 3.0 55 Regular"/>
                <a:cs typeface="Alibaba PuHuiTi 3.0 55 Regular"/>
              </a:rPr>
              <a:t>Domain Glossary</a:t>
            </a:r>
            <a:endParaRPr lang="en-US" sz="1100"/>
          </a:p>
        </p:txBody>
      </p:sp>
      <p:sp>
        <p:nvSpPr>
          <p:cNvPr id="28" name="TextBox 28"/>
          <p:cNvSpPr txBox="1"/>
          <p:nvPr/>
        </p:nvSpPr>
        <p:spPr>
          <a:xfrm>
            <a:off x="8300451" y="3321248"/>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29" name="TextBox 29"/>
          <p:cNvSpPr txBox="1"/>
          <p:nvPr/>
        </p:nvSpPr>
        <p:spPr>
          <a:xfrm>
            <a:off x="8480933" y="3330773"/>
            <a:ext cx="3050958" cy="57894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Curated background documents and terminology</a:t>
            </a:r>
            <a:endParaRPr lang="en-US" sz="1100"/>
          </a:p>
          <a:p>
            <a:pPr algn="l"/>
            <a:r>
              <a:rPr sz="1000" b="0" i="0" strike="noStrike">
                <a:ln/>
                <a:solidFill>
                  <a:srgbClr val="0A1F3D">
                    <a:alpha val="85098"/>
                  </a:srgbClr>
                </a:solidFill>
                <a:latin typeface="FZYaYiHei GB18030L2 R"/>
                <a:ea typeface="FZYaYiHei GB18030L2 R"/>
                <a:cs typeface="FZYaYiHei GB18030L2 R"/>
              </a:rPr>
              <a:t>lists provide authoritative reference for specialized</a:t>
            </a:r>
            <a:endParaRPr/>
          </a:p>
          <a:p>
            <a:pPr algn="l"/>
            <a:r>
              <a:rPr sz="1000" b="0" i="0" strike="noStrike">
                <a:ln/>
                <a:solidFill>
                  <a:srgbClr val="0A1F3D">
                    <a:alpha val="85098"/>
                  </a:srgbClr>
                </a:solidFill>
                <a:latin typeface="FZYaYiHei GB18030L2 R"/>
                <a:ea typeface="FZYaYiHei GB18030L2 R"/>
                <a:cs typeface="FZYaYiHei GB18030L2 R"/>
              </a:rPr>
              <a:t>vocabulary common in technical presentations</a:t>
            </a:r>
            <a:endParaRPr/>
          </a:p>
        </p:txBody>
      </p:sp>
      <p:sp>
        <p:nvSpPr>
          <p:cNvPr id="30" name="TextBox 30"/>
          <p:cNvSpPr txBox="1"/>
          <p:nvPr/>
        </p:nvSpPr>
        <p:spPr>
          <a:xfrm>
            <a:off x="8300451" y="4075360"/>
            <a:ext cx="123347" cy="152400"/>
          </a:xfrm>
          <a:prstGeom prst="rect">
            <a:avLst/>
          </a:prstGeom>
          <a:ln>
            <a:headEnd type="none"/>
            <a:tailEnd type="none"/>
          </a:ln>
        </p:spPr>
        <p:txBody>
          <a:bodyPr vert="horz" wrap="square" lIns="0" tIns="0" rIns="0" bIns="0" rtlCol="0" anchor="t" anchorCtr="0"/>
          <a:lstStyle/>
          <a:p>
            <a:pPr algn="l">
              <a:defRPr/>
            </a:pPr>
            <a:r>
              <a:rPr lang="en-US" sz="1000" b="1" i="0" strike="noStrike">
                <a:ln/>
                <a:solidFill>
                  <a:srgbClr val="5B8CB8">
                    <a:alpha val="100000"/>
                  </a:srgbClr>
                </a:solidFill>
                <a:latin typeface="ui-sans-serif"/>
                <a:ea typeface="ui-sans-serif"/>
                <a:cs typeface="ui-sans-serif"/>
              </a:rPr>
              <a:t>•</a:t>
            </a:r>
            <a:endParaRPr lang="en-US" sz="1100"/>
          </a:p>
        </p:txBody>
      </p:sp>
      <p:sp>
        <p:nvSpPr>
          <p:cNvPr id="31" name="TextBox 31"/>
          <p:cNvSpPr txBox="1"/>
          <p:nvPr/>
        </p:nvSpPr>
        <p:spPr>
          <a:xfrm>
            <a:off x="8480933" y="4084885"/>
            <a:ext cx="3050958" cy="792212"/>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5098"/>
                  </a:srgbClr>
                </a:solidFill>
                <a:latin typeface="FZYaYiHei GB18030L2 R"/>
                <a:ea typeface="FZYaYiHei GB18030L2 R"/>
                <a:cs typeface="FZYaYiHei GB18030L2 R"/>
              </a:rPr>
              <a:t>Lightweight fuzzy matching against local glossary</a:t>
            </a:r>
            <a:endParaRPr lang="en-US" sz="1100"/>
          </a:p>
          <a:p>
            <a:pPr algn="l"/>
            <a:r>
              <a:rPr sz="1000" b="0" i="0" strike="noStrike">
                <a:ln/>
                <a:solidFill>
                  <a:srgbClr val="0A1F3D">
                    <a:alpha val="85098"/>
                  </a:srgbClr>
                </a:solidFill>
                <a:latin typeface="FZYaYiHei GB18030L2 R"/>
                <a:ea typeface="FZYaYiHei GB18030L2 R"/>
                <a:cs typeface="FZYaYiHei GB18030L2 R"/>
              </a:rPr>
              <a:t>enables rapid term verification without requiring</a:t>
            </a:r>
            <a:endParaRPr/>
          </a:p>
          <a:p>
            <a:pPr algn="l"/>
            <a:r>
              <a:rPr sz="1000" b="0" i="0" strike="noStrike">
                <a:ln/>
                <a:solidFill>
                  <a:srgbClr val="0A1F3D">
                    <a:alpha val="85098"/>
                  </a:srgbClr>
                </a:solidFill>
                <a:latin typeface="FZYaYiHei GB18030L2 R"/>
                <a:ea typeface="FZYaYiHei GB18030L2 R"/>
                <a:cs typeface="FZYaYiHei GB18030L2 R"/>
              </a:rPr>
              <a:t>heavy vector database infrastructure in prototype</a:t>
            </a:r>
            <a:endParaRPr/>
          </a:p>
          <a:p>
            <a:pPr algn="l"/>
            <a:r>
              <a:rPr sz="1000" b="0" i="0" strike="noStrike">
                <a:ln/>
                <a:solidFill>
                  <a:srgbClr val="0A1F3D">
                    <a:alpha val="85098"/>
                  </a:srgbClr>
                </a:solidFill>
                <a:latin typeface="FZYaYiHei GB18030L2 R"/>
                <a:ea typeface="FZYaYiHei GB18030L2 R"/>
                <a:cs typeface="FZYaYiHei GB18030L2 R"/>
              </a:rPr>
              <a:t>phase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dirty="0">
                <a:ln/>
                <a:solidFill>
                  <a:srgbClr val="0A1F3D">
                    <a:alpha val="100000"/>
                  </a:srgbClr>
                </a:solidFill>
                <a:latin typeface="Alibaba PuHuiTi 3.0 55 Regular"/>
                <a:ea typeface="Alibaba PuHuiTi 3.0 55 Regular"/>
                <a:cs typeface="Alibaba PuHuiTi 3.0 55 Regular"/>
              </a:rPr>
              <a:t>Dataset Construction</a:t>
            </a:r>
            <a:endParaRPr lang="en-US" sz="1100" dirty="0"/>
          </a:p>
        </p:txBody>
      </p:sp>
      <p:sp>
        <p:nvSpPr>
          <p:cNvPr id="5" name="TextBox 5"/>
          <p:cNvSpPr txBox="1"/>
          <p:nvPr/>
        </p:nvSpPr>
        <p:spPr>
          <a:xfrm>
            <a:off x="457086" y="1352550"/>
            <a:ext cx="11274781" cy="100652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We compiled a specialized corpus of 10 AI/ML-focused TED/TED-Ed videos with comprehensive multimodal annotations. Unlike general-</a:t>
            </a:r>
            <a:endParaRPr lang="en-US" sz="1100"/>
          </a:p>
          <a:p>
            <a:pPr algn="l"/>
            <a:r>
              <a:rPr sz="1200" b="0" i="0" strike="noStrike">
                <a:ln/>
                <a:solidFill>
                  <a:srgbClr val="0A1F3D">
                    <a:alpha val="85098"/>
                  </a:srgbClr>
                </a:solidFill>
                <a:latin typeface="FZYaYiHei GB18030L2 R"/>
                <a:ea typeface="FZYaYiHei GB18030L2 R"/>
                <a:cs typeface="FZYaYiHei GB18030L2 R"/>
              </a:rPr>
              <a:t>purpose ASR datasets, each sample includes manually verified reference transcripts for accuracy evaluation, structured metadata for context</a:t>
            </a:r>
            <a:endParaRPr/>
          </a:p>
          <a:p>
            <a:pPr algn="l"/>
            <a:r>
              <a:rPr sz="1200" b="0" i="0" strike="noStrike">
                <a:ln/>
                <a:solidFill>
                  <a:srgbClr val="0A1F3D">
                    <a:alpha val="85098"/>
                  </a:srgbClr>
                </a:solidFill>
                <a:latin typeface="FZYaYiHei GB18030L2 R"/>
                <a:ea typeface="FZYaYiHei GB18030L2 R"/>
                <a:cs typeface="FZYaYiHei GB18030L2 R"/>
              </a:rPr>
              <a:t>enrichment, and curated background documents enabling domain-specific retrieval—creating a targeted testbed for technical terminology</a:t>
            </a:r>
            <a:endParaRPr/>
          </a:p>
          <a:p>
            <a:pPr algn="l"/>
            <a:r>
              <a:rPr sz="1200" b="0" i="0" strike="noStrike">
                <a:ln/>
                <a:solidFill>
                  <a:srgbClr val="0A1F3D">
                    <a:alpha val="85098"/>
                  </a:srgbClr>
                </a:solidFill>
                <a:latin typeface="FZYaYiHei GB18030L2 R"/>
                <a:ea typeface="FZYaYiHei GB18030L2 R"/>
                <a:cs typeface="FZYaYiHei GB18030L2 R"/>
              </a:rPr>
              <a:t>recognition challenges.</a:t>
            </a:r>
            <a:endParaRPr/>
          </a:p>
        </p:txBody>
      </p:sp>
      <p:sp>
        <p:nvSpPr>
          <p:cNvPr id="6" name="AutoShape 6"/>
          <p:cNvSpPr/>
          <p:nvPr/>
        </p:nvSpPr>
        <p:spPr>
          <a:xfrm>
            <a:off x="457086" y="2423517"/>
            <a:ext cx="6399200" cy="841773"/>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423517"/>
            <a:ext cx="9522" cy="841773"/>
          </a:xfrm>
          <a:prstGeom prst="line">
            <a:avLst/>
          </a:prstGeom>
          <a:ln w="28575">
            <a:solidFill>
              <a:srgbClr val="5B8CB8">
                <a:alpha val="100000"/>
              </a:srgbClr>
            </a:solidFill>
            <a:prstDash val="solid"/>
            <a:headEnd type="none"/>
            <a:tailEnd type="none"/>
          </a:ln>
        </p:spPr>
      </p:sp>
      <p:sp>
        <p:nvSpPr>
          <p:cNvPr id="8" name="TextBox 8"/>
          <p:cNvSpPr txBox="1"/>
          <p:nvPr/>
        </p:nvSpPr>
        <p:spPr>
          <a:xfrm>
            <a:off x="638015" y="2604492"/>
            <a:ext cx="228543" cy="152400"/>
          </a:xfrm>
          <a:prstGeom prst="rect">
            <a:avLst/>
          </a:prstGeom>
          <a:ln>
            <a:headEnd type="none"/>
            <a:tailEnd type="none"/>
          </a:ln>
        </p:spPr>
        <p:txBody>
          <a:bodyPr vert="horz" wrap="none" lIns="0" tIns="0" rIns="0" bIns="0" rtlCol="0" anchor="t" anchorCtr="0"/>
          <a:lstStyle/>
          <a:p>
            <a:pPr algn="l">
              <a:defRPr/>
            </a:pPr>
            <a:r>
              <a:rPr lang="en-US" sz="1000" b="1" i="0" strike="noStrike">
                <a:ln/>
                <a:solidFill>
                  <a:srgbClr val="5B8CB8">
                    <a:alpha val="100000"/>
                  </a:srgbClr>
                </a:solidFill>
                <a:latin typeface="Alibaba PuHuiTi 3.0 55 Regular"/>
                <a:ea typeface="Alibaba PuHuiTi 3.0 55 Regular"/>
                <a:cs typeface="Alibaba PuHuiTi 3.0 55 Regular"/>
              </a:rPr>
              <a:t>01</a:t>
            </a:r>
            <a:endParaRPr lang="en-US" sz="1100"/>
          </a:p>
        </p:txBody>
      </p:sp>
      <p:sp>
        <p:nvSpPr>
          <p:cNvPr id="9" name="TextBox 9"/>
          <p:cNvSpPr txBox="1"/>
          <p:nvPr/>
        </p:nvSpPr>
        <p:spPr>
          <a:xfrm>
            <a:off x="1018920" y="2633067"/>
            <a:ext cx="5675480"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Curated 10 high-quality educational videos from TED and TED-Ed platforms</a:t>
            </a:r>
            <a:endParaRPr lang="en-US" sz="1100"/>
          </a:p>
          <a:p>
            <a:pPr algn="l"/>
            <a:r>
              <a:rPr sz="1200" b="0" i="0" strike="noStrike">
                <a:ln/>
                <a:solidFill>
                  <a:srgbClr val="0A1F3D">
                    <a:alpha val="90196"/>
                  </a:srgbClr>
                </a:solidFill>
                <a:latin typeface="FZYaYiHei GB18030L2 R"/>
                <a:ea typeface="FZYaYiHei GB18030L2 R"/>
                <a:cs typeface="FZYaYiHei GB18030L2 R"/>
              </a:rPr>
              <a:t>specifically selected for artificial intelligence and machine learning subject matter</a:t>
            </a:r>
            <a:endParaRPr/>
          </a:p>
        </p:txBody>
      </p:sp>
      <p:sp>
        <p:nvSpPr>
          <p:cNvPr id="10" name="AutoShape 10"/>
          <p:cNvSpPr/>
          <p:nvPr/>
        </p:nvSpPr>
        <p:spPr>
          <a:xfrm>
            <a:off x="457086" y="3455789"/>
            <a:ext cx="6399200" cy="1100733"/>
          </a:xfrm>
          <a:prstGeom prst="rect">
            <a:avLst/>
          </a:prstGeom>
          <a:solidFill>
            <a:srgbClr val="E8EBEF">
              <a:alpha val="100000"/>
            </a:srgbClr>
          </a:solidFill>
          <a:ln w="9525">
            <a:solidFill>
              <a:srgbClr val="C5CDD6">
                <a:alpha val="100000"/>
              </a:srgbClr>
            </a:solidFill>
            <a:prstDash val="solid"/>
            <a:headEnd type="none"/>
            <a:tailEnd type="none"/>
          </a:ln>
        </p:spPr>
      </p:sp>
      <p:sp>
        <p:nvSpPr>
          <p:cNvPr id="11" name="AutoShape 11"/>
          <p:cNvSpPr/>
          <p:nvPr/>
        </p:nvSpPr>
        <p:spPr>
          <a:xfrm>
            <a:off x="457086" y="3455789"/>
            <a:ext cx="9522" cy="1100733"/>
          </a:xfrm>
          <a:prstGeom prst="line">
            <a:avLst/>
          </a:prstGeom>
          <a:ln w="28575">
            <a:solidFill>
              <a:srgbClr val="5B8CB8">
                <a:alpha val="100000"/>
              </a:srgbClr>
            </a:solidFill>
            <a:prstDash val="solid"/>
            <a:headEnd type="none"/>
            <a:tailEnd type="none"/>
          </a:ln>
        </p:spPr>
      </p:sp>
      <p:sp>
        <p:nvSpPr>
          <p:cNvPr id="12" name="TextBox 12"/>
          <p:cNvSpPr txBox="1"/>
          <p:nvPr/>
        </p:nvSpPr>
        <p:spPr>
          <a:xfrm>
            <a:off x="638015" y="3636764"/>
            <a:ext cx="228543" cy="152400"/>
          </a:xfrm>
          <a:prstGeom prst="rect">
            <a:avLst/>
          </a:prstGeom>
          <a:ln>
            <a:headEnd type="none"/>
            <a:tailEnd type="none"/>
          </a:ln>
        </p:spPr>
        <p:txBody>
          <a:bodyPr vert="horz" wrap="none" lIns="0" tIns="0" rIns="0" bIns="0" rtlCol="0" anchor="t" anchorCtr="0"/>
          <a:lstStyle/>
          <a:p>
            <a:pPr algn="l">
              <a:defRPr/>
            </a:pPr>
            <a:r>
              <a:rPr lang="en-US" sz="1000" b="1" i="0" strike="noStrike">
                <a:ln/>
                <a:solidFill>
                  <a:srgbClr val="5B8CB8">
                    <a:alpha val="100000"/>
                  </a:srgbClr>
                </a:solidFill>
                <a:latin typeface="Alibaba PuHuiTi 3.0 55 Regular"/>
                <a:ea typeface="Alibaba PuHuiTi 3.0 55 Regular"/>
                <a:cs typeface="Alibaba PuHuiTi 3.0 55 Regular"/>
              </a:rPr>
              <a:t>02</a:t>
            </a:r>
            <a:endParaRPr lang="en-US" sz="1100"/>
          </a:p>
        </p:txBody>
      </p:sp>
      <p:sp>
        <p:nvSpPr>
          <p:cNvPr id="13" name="TextBox 13"/>
          <p:cNvSpPr txBox="1"/>
          <p:nvPr/>
        </p:nvSpPr>
        <p:spPr>
          <a:xfrm>
            <a:off x="1018920" y="3665339"/>
            <a:ext cx="5703752" cy="67984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Each sample includes complete video files, extracted audio tracks, manually verified</a:t>
            </a:r>
            <a:endParaRPr lang="en-US" sz="1100"/>
          </a:p>
          <a:p>
            <a:pPr algn="l"/>
            <a:r>
              <a:rPr sz="1200" b="0" i="0" strike="noStrike">
                <a:ln/>
                <a:solidFill>
                  <a:srgbClr val="0A1F3D">
                    <a:alpha val="90196"/>
                  </a:srgbClr>
                </a:solidFill>
                <a:latin typeface="FZYaYiHei GB18030L2 R"/>
                <a:ea typeface="FZYaYiHei GB18030L2 R"/>
                <a:cs typeface="FZYaYiHei GB18030L2 R"/>
              </a:rPr>
              <a:t>reference transcripts serving as evaluation ground truth, and structured metadata</a:t>
            </a:r>
            <a:endParaRPr/>
          </a:p>
          <a:p>
            <a:pPr algn="l"/>
            <a:r>
              <a:rPr sz="1200" b="0" i="0" strike="noStrike">
                <a:ln/>
                <a:solidFill>
                  <a:srgbClr val="0A1F3D">
                    <a:alpha val="90196"/>
                  </a:srgbClr>
                </a:solidFill>
                <a:latin typeface="FZYaYiHei GB18030L2 R"/>
                <a:ea typeface="FZYaYiHei GB18030L2 R"/>
                <a:cs typeface="FZYaYiHei GB18030L2 R"/>
              </a:rPr>
              <a:t>documentation</a:t>
            </a:r>
            <a:endParaRPr/>
          </a:p>
        </p:txBody>
      </p:sp>
      <p:sp>
        <p:nvSpPr>
          <p:cNvPr id="14" name="AutoShape 14"/>
          <p:cNvSpPr/>
          <p:nvPr/>
        </p:nvSpPr>
        <p:spPr>
          <a:xfrm>
            <a:off x="457086" y="4747023"/>
            <a:ext cx="6399200" cy="841773"/>
          </a:xfrm>
          <a:prstGeom prst="rect">
            <a:avLst/>
          </a:prstGeom>
          <a:solidFill>
            <a:srgbClr val="E8EBEF">
              <a:alpha val="100000"/>
            </a:srgbClr>
          </a:solidFill>
          <a:ln w="9525">
            <a:solidFill>
              <a:srgbClr val="C5CDD6">
                <a:alpha val="100000"/>
              </a:srgbClr>
            </a:solidFill>
            <a:prstDash val="solid"/>
            <a:headEnd type="none"/>
            <a:tailEnd type="none"/>
          </a:ln>
        </p:spPr>
      </p:sp>
      <p:sp>
        <p:nvSpPr>
          <p:cNvPr id="15" name="AutoShape 15"/>
          <p:cNvSpPr/>
          <p:nvPr/>
        </p:nvSpPr>
        <p:spPr>
          <a:xfrm>
            <a:off x="457086" y="4747023"/>
            <a:ext cx="9522" cy="841773"/>
          </a:xfrm>
          <a:prstGeom prst="line">
            <a:avLst/>
          </a:prstGeom>
          <a:ln w="28575">
            <a:solidFill>
              <a:srgbClr val="5B8CB8">
                <a:alpha val="100000"/>
              </a:srgbClr>
            </a:solidFill>
            <a:prstDash val="solid"/>
            <a:headEnd type="none"/>
            <a:tailEnd type="none"/>
          </a:ln>
        </p:spPr>
      </p:sp>
      <p:sp>
        <p:nvSpPr>
          <p:cNvPr id="16" name="TextBox 16"/>
          <p:cNvSpPr txBox="1"/>
          <p:nvPr/>
        </p:nvSpPr>
        <p:spPr>
          <a:xfrm>
            <a:off x="638015" y="4927996"/>
            <a:ext cx="228543" cy="152400"/>
          </a:xfrm>
          <a:prstGeom prst="rect">
            <a:avLst/>
          </a:prstGeom>
          <a:ln>
            <a:headEnd type="none"/>
            <a:tailEnd type="none"/>
          </a:ln>
        </p:spPr>
        <p:txBody>
          <a:bodyPr vert="horz" wrap="none" lIns="0" tIns="0" rIns="0" bIns="0" rtlCol="0" anchor="t" anchorCtr="0"/>
          <a:lstStyle/>
          <a:p>
            <a:pPr algn="l">
              <a:defRPr/>
            </a:pPr>
            <a:r>
              <a:rPr lang="en-US" sz="1000" b="1" i="0" strike="noStrike">
                <a:ln/>
                <a:solidFill>
                  <a:srgbClr val="5B8CB8">
                    <a:alpha val="100000"/>
                  </a:srgbClr>
                </a:solidFill>
                <a:latin typeface="Alibaba PuHuiTi 3.0 55 Regular"/>
                <a:ea typeface="Alibaba PuHuiTi 3.0 55 Regular"/>
                <a:cs typeface="Alibaba PuHuiTi 3.0 55 Regular"/>
              </a:rPr>
              <a:t>03</a:t>
            </a:r>
            <a:endParaRPr lang="en-US" sz="1100"/>
          </a:p>
        </p:txBody>
      </p:sp>
      <p:sp>
        <p:nvSpPr>
          <p:cNvPr id="17" name="TextBox 17"/>
          <p:cNvSpPr txBox="1"/>
          <p:nvPr/>
        </p:nvSpPr>
        <p:spPr>
          <a:xfrm>
            <a:off x="1018920" y="4956571"/>
            <a:ext cx="5704197"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Prepared domain-specific background documents including technical glossaries and</a:t>
            </a:r>
            <a:endParaRPr lang="en-US" sz="1100"/>
          </a:p>
          <a:p>
            <a:pPr algn="l"/>
            <a:r>
              <a:rPr sz="1200" b="0" i="0" strike="noStrike">
                <a:ln/>
                <a:solidFill>
                  <a:srgbClr val="0A1F3D">
                    <a:alpha val="90196"/>
                  </a:srgbClr>
                </a:solidFill>
                <a:latin typeface="FZYaYiHei GB18030L2 R"/>
                <a:ea typeface="FZYaYiHei GB18030L2 R"/>
                <a:cs typeface="FZYaYiHei GB18030L2 R"/>
              </a:rPr>
              <a:t>topic summaries to enable knowledge-augmented retrieval during processing</a:t>
            </a:r>
            <a:endParaRPr/>
          </a:p>
        </p:txBody>
      </p:sp>
      <p:sp>
        <p:nvSpPr>
          <p:cNvPr id="18" name="AutoShape 18"/>
          <p:cNvSpPr/>
          <p:nvPr/>
        </p:nvSpPr>
        <p:spPr>
          <a:xfrm>
            <a:off x="457086" y="5779294"/>
            <a:ext cx="6399200" cy="841773"/>
          </a:xfrm>
          <a:prstGeom prst="rect">
            <a:avLst/>
          </a:prstGeom>
          <a:solidFill>
            <a:srgbClr val="E8EBEF">
              <a:alpha val="100000"/>
            </a:srgbClr>
          </a:solidFill>
          <a:ln w="9525">
            <a:solidFill>
              <a:srgbClr val="C5CDD6">
                <a:alpha val="100000"/>
              </a:srgbClr>
            </a:solidFill>
            <a:prstDash val="solid"/>
            <a:headEnd type="none"/>
            <a:tailEnd type="none"/>
          </a:ln>
        </p:spPr>
      </p:sp>
      <p:sp>
        <p:nvSpPr>
          <p:cNvPr id="19" name="AutoShape 19"/>
          <p:cNvSpPr/>
          <p:nvPr/>
        </p:nvSpPr>
        <p:spPr>
          <a:xfrm>
            <a:off x="457086" y="5779294"/>
            <a:ext cx="9522" cy="841773"/>
          </a:xfrm>
          <a:prstGeom prst="line">
            <a:avLst/>
          </a:prstGeom>
          <a:ln w="28575">
            <a:solidFill>
              <a:srgbClr val="5B8CB8">
                <a:alpha val="100000"/>
              </a:srgbClr>
            </a:solidFill>
            <a:prstDash val="solid"/>
            <a:headEnd type="none"/>
            <a:tailEnd type="none"/>
          </a:ln>
        </p:spPr>
      </p:sp>
      <p:sp>
        <p:nvSpPr>
          <p:cNvPr id="20" name="TextBox 20"/>
          <p:cNvSpPr txBox="1"/>
          <p:nvPr/>
        </p:nvSpPr>
        <p:spPr>
          <a:xfrm>
            <a:off x="638015" y="5960269"/>
            <a:ext cx="228543" cy="152400"/>
          </a:xfrm>
          <a:prstGeom prst="rect">
            <a:avLst/>
          </a:prstGeom>
          <a:ln>
            <a:headEnd type="none"/>
            <a:tailEnd type="none"/>
          </a:ln>
        </p:spPr>
        <p:txBody>
          <a:bodyPr vert="horz" wrap="none" lIns="0" tIns="0" rIns="0" bIns="0" rtlCol="0" anchor="t" anchorCtr="0"/>
          <a:lstStyle/>
          <a:p>
            <a:pPr algn="l">
              <a:defRPr/>
            </a:pPr>
            <a:r>
              <a:rPr lang="en-US" sz="1000" b="1" i="0" strike="noStrike">
                <a:ln/>
                <a:solidFill>
                  <a:srgbClr val="5B8CB8">
                    <a:alpha val="100000"/>
                  </a:srgbClr>
                </a:solidFill>
                <a:latin typeface="Alibaba PuHuiTi 3.0 55 Regular"/>
                <a:ea typeface="Alibaba PuHuiTi 3.0 55 Regular"/>
                <a:cs typeface="Alibaba PuHuiTi 3.0 55 Regular"/>
              </a:rPr>
              <a:t>04</a:t>
            </a:r>
            <a:endParaRPr lang="en-US" sz="1100"/>
          </a:p>
        </p:txBody>
      </p:sp>
      <p:sp>
        <p:nvSpPr>
          <p:cNvPr id="21" name="TextBox 21"/>
          <p:cNvSpPr txBox="1"/>
          <p:nvPr/>
        </p:nvSpPr>
        <p:spPr>
          <a:xfrm>
            <a:off x="1018920" y="5988844"/>
            <a:ext cx="5675480" cy="42088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Implemented structured directory organization under data/ folder enabling</a:t>
            </a:r>
            <a:endParaRPr lang="en-US" sz="1100"/>
          </a:p>
          <a:p>
            <a:pPr algn="l"/>
            <a:r>
              <a:rPr sz="1200" b="0" i="0" strike="noStrike">
                <a:ln/>
                <a:solidFill>
                  <a:srgbClr val="0A1F3D">
                    <a:alpha val="90196"/>
                  </a:srgbClr>
                </a:solidFill>
                <a:latin typeface="FZYaYiHei GB18030L2 R"/>
                <a:ea typeface="FZYaYiHei GB18030L2 R"/>
                <a:cs typeface="FZYaYiHei GB18030L2 R"/>
              </a:rPr>
              <a:t>automated pipeline ingestion and reproducible experiment configuration</a:t>
            </a:r>
            <a:endParaRPr/>
          </a:p>
        </p:txBody>
      </p:sp>
      <p:sp>
        <p:nvSpPr>
          <p:cNvPr id="22" name="AutoShape 22"/>
          <p:cNvSpPr/>
          <p:nvPr/>
        </p:nvSpPr>
        <p:spPr>
          <a:xfrm>
            <a:off x="7161009" y="2874466"/>
            <a:ext cx="4570857" cy="3048000"/>
          </a:xfrm>
          <a:prstGeom prst="rect">
            <a:avLst/>
          </a:prstGeom>
          <a:solidFill>
            <a:srgbClr val="E8EBEF">
              <a:alpha val="100000"/>
            </a:srgbClr>
          </a:solidFill>
          <a:ln>
            <a:headEnd type="none"/>
            <a:tailEnd type="none"/>
          </a:ln>
        </p:spPr>
      </p:sp>
      <p:pic>
        <p:nvPicPr>
          <p:cNvPr id="23" name="Picture 23"/>
          <p:cNvPicPr>
            <a:picLocks noChangeAspect="1"/>
          </p:cNvPicPr>
          <p:nvPr/>
        </p:nvPicPr>
        <p:blipFill>
          <a:blip r:embed="rId3">
            <a:alphaModFix/>
          </a:blip>
          <a:srcRect t="24" b="24"/>
          <a:stretch>
            <a:fillRect/>
          </a:stretch>
        </p:blipFill>
        <p:spPr>
          <a:xfrm>
            <a:off x="7161009" y="2874466"/>
            <a:ext cx="4570857" cy="3048000"/>
          </a:xfrm>
          <a:prstGeom prst="rect">
            <a:avLst/>
          </a:prstGeom>
          <a:ln>
            <a:headEnd type="none"/>
            <a:tailEnd type="none"/>
          </a:ln>
        </p:spPr>
      </p:pic>
      <p:sp>
        <p:nvSpPr>
          <p:cNvPr id="24" name="TextBox 24"/>
          <p:cNvSpPr txBox="1"/>
          <p:nvPr/>
        </p:nvSpPr>
        <p:spPr>
          <a:xfrm>
            <a:off x="7161009" y="6017716"/>
            <a:ext cx="4570857" cy="133350"/>
          </a:xfrm>
          <a:prstGeom prst="rect">
            <a:avLst/>
          </a:prstGeom>
          <a:ln>
            <a:headEnd type="none"/>
            <a:tailEnd type="none"/>
          </a:ln>
        </p:spPr>
        <p:txBody>
          <a:bodyPr vert="horz" wrap="square" lIns="0" tIns="0" rIns="0" bIns="0" rtlCol="0" anchor="t" anchorCtr="0"/>
          <a:lstStyle/>
          <a:p>
            <a:pPr algn="l">
              <a:defRPr/>
            </a:pPr>
            <a:r>
              <a:rPr lang="en-US" sz="900" b="0" i="0" strike="noStrike">
                <a:ln/>
                <a:solidFill>
                  <a:srgbClr val="0A1F3D">
                    <a:alpha val="50196"/>
                  </a:srgbClr>
                </a:solidFill>
                <a:latin typeface="Alibaba PuHuiTi 3.0 55 Regular"/>
                <a:ea typeface="Alibaba PuHuiTi 3.0 55 Regular"/>
                <a:cs typeface="Alibaba PuHuiTi 3.0 55 Regular"/>
              </a:rPr>
              <a:t>TED conference stage speaker presentation</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7620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Pipeline Architecture</a:t>
            </a:r>
            <a:endParaRPr lang="en-US" sz="1100"/>
          </a:p>
        </p:txBody>
      </p:sp>
      <p:sp>
        <p:nvSpPr>
          <p:cNvPr id="5" name="AutoShape 5"/>
          <p:cNvSpPr/>
          <p:nvPr/>
        </p:nvSpPr>
        <p:spPr>
          <a:xfrm>
            <a:off x="457086" y="1428750"/>
            <a:ext cx="6399200" cy="1147762"/>
          </a:xfrm>
          <a:prstGeom prst="rect">
            <a:avLst/>
          </a:prstGeom>
          <a:solidFill>
            <a:srgbClr val="E8EBEF">
              <a:alpha val="100000"/>
            </a:srgbClr>
          </a:solidFill>
          <a:ln w="9525">
            <a:solidFill>
              <a:srgbClr val="C5CDD6">
                <a:alpha val="100000"/>
              </a:srgbClr>
            </a:solidFill>
            <a:prstDash val="solid"/>
            <a:headEnd type="none"/>
            <a:tailEnd type="none"/>
          </a:ln>
        </p:spPr>
      </p:sp>
      <p:sp>
        <p:nvSpPr>
          <p:cNvPr id="6" name="AutoShape 6"/>
          <p:cNvSpPr/>
          <p:nvPr/>
        </p:nvSpPr>
        <p:spPr>
          <a:xfrm>
            <a:off x="457086" y="1428750"/>
            <a:ext cx="6399200" cy="9525"/>
          </a:xfrm>
          <a:prstGeom prst="line">
            <a:avLst/>
          </a:prstGeom>
          <a:ln w="28575">
            <a:solidFill>
              <a:srgbClr val="5B8CB8">
                <a:alpha val="100000"/>
              </a:srgbClr>
            </a:solidFill>
            <a:prstDash val="solid"/>
            <a:headEnd type="none"/>
            <a:tailEnd type="none"/>
          </a:ln>
        </p:spPr>
      </p:sp>
      <p:sp>
        <p:nvSpPr>
          <p:cNvPr id="7" name="TextBox 7"/>
          <p:cNvSpPr txBox="1"/>
          <p:nvPr/>
        </p:nvSpPr>
        <p:spPr>
          <a:xfrm>
            <a:off x="695151" y="1685925"/>
            <a:ext cx="6161134" cy="647700"/>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85098"/>
                  </a:srgbClr>
                </a:solidFill>
                <a:latin typeface="FZYaYiHei GB18030L2 R"/>
                <a:ea typeface="FZYaYiHei GB18030L2 R"/>
                <a:cs typeface="FZYaYiHei GB18030L2 R"/>
              </a:rPr>
              <a:t>Core Design:</a:t>
            </a:r>
            <a:r>
              <a:rPr sz="1100" b="0" i="0" strike="noStrike">
                <a:ln/>
                <a:solidFill>
                  <a:srgbClr val="0A1F3D">
                    <a:alpha val="85098"/>
                  </a:srgbClr>
                </a:solidFill>
                <a:latin typeface="FZYaYiHei GB18030L2 R"/>
                <a:ea typeface="FZYaYiHei GB18030L2 R"/>
                <a:cs typeface="FZYaYiHei GB18030L2 R"/>
              </a:rPr>
              <a:t> A modular, stage-based architecture processing video through parallel audio</a:t>
            </a:r>
            <a:endParaRPr lang="en-US" sz="1100"/>
          </a:p>
          <a:p>
            <a:pPr algn="l"/>
            <a:r>
              <a:rPr sz="1100" b="0" i="0" strike="noStrike">
                <a:ln/>
                <a:solidFill>
                  <a:srgbClr val="0A1F3D">
                    <a:alpha val="85098"/>
                  </a:srgbClr>
                </a:solidFill>
                <a:latin typeface="FZYaYiHei GB18030L2 R"/>
                <a:ea typeface="FZYaYiHei GB18030L2 R"/>
                <a:cs typeface="FZYaYiHei GB18030L2 R"/>
              </a:rPr>
              <a:t>and visual tracks before fusing evidence for final repair. Timestamp-synchronized merging</a:t>
            </a:r>
            <a:endParaRPr/>
          </a:p>
          <a:p>
            <a:pPr algn="l"/>
            <a:r>
              <a:rPr sz="1100" b="0" i="0" strike="noStrike">
                <a:ln/>
                <a:solidFill>
                  <a:srgbClr val="0A1F3D">
                    <a:alpha val="85098"/>
                  </a:srgbClr>
                </a:solidFill>
                <a:latin typeface="FZYaYiHei GB18030L2 R"/>
                <a:ea typeface="FZYaYiHei GB18030L2 R"/>
                <a:cs typeface="FZYaYiHei GB18030L2 R"/>
              </a:rPr>
              <a:t>preserves temporal alignment across modalities.</a:t>
            </a:r>
            <a:endParaRPr/>
          </a:p>
        </p:txBody>
      </p:sp>
      <p:sp>
        <p:nvSpPr>
          <p:cNvPr id="8" name="AutoShape 8"/>
          <p:cNvSpPr/>
          <p:nvPr/>
        </p:nvSpPr>
        <p:spPr>
          <a:xfrm>
            <a:off x="436791" y="4103355"/>
            <a:ext cx="182834" cy="182880"/>
          </a:xfrm>
          <a:custGeom>
            <a:avLst/>
            <a:gdLst/>
            <a:ahLst/>
            <a:cxnLst/>
            <a:rect l="l" t="t" r="r" b="b"/>
            <a:pathLst>
              <a:path w="9998" h="10000">
                <a:moveTo>
                  <a:pt x="909" y="3815"/>
                </a:moveTo>
                <a:lnTo>
                  <a:pt x="2545" y="3815"/>
                </a:lnTo>
                <a:lnTo>
                  <a:pt x="4090" y="2168"/>
                </a:lnTo>
                <a:lnTo>
                  <a:pt x="4090" y="7832"/>
                </a:lnTo>
                <a:lnTo>
                  <a:pt x="2545" y="6185"/>
                </a:lnTo>
                <a:lnTo>
                  <a:pt x="909" y="6185"/>
                </a:lnTo>
                <a:lnTo>
                  <a:pt x="909" y="3815"/>
                </a:lnTo>
                <a:moveTo>
                  <a:pt x="454" y="7370"/>
                </a:moveTo>
                <a:lnTo>
                  <a:pt x="2218" y="7370"/>
                </a:lnTo>
                <a:lnTo>
                  <a:pt x="4626" y="9941"/>
                </a:lnTo>
                <a:cubicBezTo>
                  <a:pt x="4668" y="9980"/>
                  <a:pt x="4718" y="10000"/>
                  <a:pt x="4776" y="10000"/>
                </a:cubicBezTo>
                <a:cubicBezTo>
                  <a:pt x="4834" y="10000"/>
                  <a:pt x="4885" y="9972"/>
                  <a:pt x="4931" y="9917"/>
                </a:cubicBezTo>
                <a:cubicBezTo>
                  <a:pt x="4976" y="9861"/>
                  <a:pt x="4999" y="9790"/>
                  <a:pt x="4999" y="9704"/>
                </a:cubicBezTo>
                <a:lnTo>
                  <a:pt x="4999" y="296"/>
                </a:lnTo>
                <a:cubicBezTo>
                  <a:pt x="4999" y="225"/>
                  <a:pt x="4980" y="160"/>
                  <a:pt x="4944" y="101"/>
                </a:cubicBezTo>
                <a:cubicBezTo>
                  <a:pt x="4908" y="41"/>
                  <a:pt x="4858" y="8"/>
                  <a:pt x="4794" y="0"/>
                </a:cubicBezTo>
                <a:cubicBezTo>
                  <a:pt x="4730" y="-8"/>
                  <a:pt x="4674" y="11"/>
                  <a:pt x="4626" y="59"/>
                </a:cubicBezTo>
                <a:lnTo>
                  <a:pt x="2218" y="2630"/>
                </a:lnTo>
                <a:lnTo>
                  <a:pt x="454" y="2630"/>
                </a:lnTo>
                <a:cubicBezTo>
                  <a:pt x="327" y="2630"/>
                  <a:pt x="220" y="2687"/>
                  <a:pt x="132" y="2802"/>
                </a:cubicBezTo>
                <a:cubicBezTo>
                  <a:pt x="44" y="2916"/>
                  <a:pt x="0" y="3057"/>
                  <a:pt x="0" y="3223"/>
                </a:cubicBezTo>
                <a:lnTo>
                  <a:pt x="0" y="6777"/>
                </a:lnTo>
                <a:cubicBezTo>
                  <a:pt x="0" y="6943"/>
                  <a:pt x="44" y="7083"/>
                  <a:pt x="132" y="7198"/>
                </a:cubicBezTo>
                <a:cubicBezTo>
                  <a:pt x="220" y="7312"/>
                  <a:pt x="327" y="7370"/>
                  <a:pt x="454" y="7370"/>
                </a:cubicBezTo>
                <a:moveTo>
                  <a:pt x="9998" y="5000"/>
                </a:moveTo>
                <a:cubicBezTo>
                  <a:pt x="9998" y="5956"/>
                  <a:pt x="9846" y="6864"/>
                  <a:pt x="9544" y="7725"/>
                </a:cubicBezTo>
                <a:cubicBezTo>
                  <a:pt x="9246" y="8562"/>
                  <a:pt x="8831" y="9285"/>
                  <a:pt x="8298" y="9893"/>
                </a:cubicBezTo>
                <a:lnTo>
                  <a:pt x="7653" y="9052"/>
                </a:lnTo>
                <a:cubicBezTo>
                  <a:pt x="8101" y="8554"/>
                  <a:pt x="8450" y="7962"/>
                  <a:pt x="8698" y="7275"/>
                </a:cubicBezTo>
                <a:cubicBezTo>
                  <a:pt x="8958" y="6556"/>
                  <a:pt x="9089" y="5798"/>
                  <a:pt x="9089" y="5000"/>
                </a:cubicBezTo>
                <a:cubicBezTo>
                  <a:pt x="9089" y="4202"/>
                  <a:pt x="8958" y="3443"/>
                  <a:pt x="8698" y="2725"/>
                </a:cubicBezTo>
                <a:cubicBezTo>
                  <a:pt x="8450" y="2037"/>
                  <a:pt x="8101" y="1445"/>
                  <a:pt x="7653" y="948"/>
                </a:cubicBezTo>
                <a:lnTo>
                  <a:pt x="8298" y="107"/>
                </a:lnTo>
                <a:cubicBezTo>
                  <a:pt x="8831" y="715"/>
                  <a:pt x="9246" y="1437"/>
                  <a:pt x="9544" y="2275"/>
                </a:cubicBezTo>
                <a:cubicBezTo>
                  <a:pt x="9846" y="3135"/>
                  <a:pt x="9998" y="4044"/>
                  <a:pt x="9998" y="5000"/>
                </a:cubicBezTo>
                <a:moveTo>
                  <a:pt x="7726" y="5000"/>
                </a:moveTo>
                <a:cubicBezTo>
                  <a:pt x="7726" y="4447"/>
                  <a:pt x="7632" y="3922"/>
                  <a:pt x="7444" y="3424"/>
                </a:cubicBezTo>
                <a:cubicBezTo>
                  <a:pt x="7262" y="2942"/>
                  <a:pt x="7010" y="2535"/>
                  <a:pt x="6690" y="2204"/>
                </a:cubicBezTo>
                <a:lnTo>
                  <a:pt x="6035" y="3057"/>
                </a:lnTo>
                <a:cubicBezTo>
                  <a:pt x="6277" y="3270"/>
                  <a:pt x="6468" y="3548"/>
                  <a:pt x="6608" y="3892"/>
                </a:cubicBezTo>
                <a:cubicBezTo>
                  <a:pt x="6747" y="4236"/>
                  <a:pt x="6817" y="4605"/>
                  <a:pt x="6817" y="5000"/>
                </a:cubicBezTo>
                <a:cubicBezTo>
                  <a:pt x="6817" y="5394"/>
                  <a:pt x="6747" y="5764"/>
                  <a:pt x="6608" y="6108"/>
                </a:cubicBezTo>
                <a:cubicBezTo>
                  <a:pt x="6468" y="6451"/>
                  <a:pt x="6277" y="6729"/>
                  <a:pt x="6035" y="6943"/>
                </a:cubicBezTo>
                <a:lnTo>
                  <a:pt x="6690" y="7796"/>
                </a:lnTo>
                <a:cubicBezTo>
                  <a:pt x="7010" y="7464"/>
                  <a:pt x="7262" y="7058"/>
                  <a:pt x="7444" y="6576"/>
                </a:cubicBezTo>
                <a:cubicBezTo>
                  <a:pt x="7632" y="6078"/>
                  <a:pt x="7726" y="5552"/>
                  <a:pt x="7726" y="5000"/>
                </a:cubicBezTo>
              </a:path>
            </a:pathLst>
          </a:custGeom>
          <a:solidFill>
            <a:srgbClr val="5B8CB8">
              <a:alpha val="100000"/>
            </a:srgbClr>
          </a:solidFill>
          <a:ln>
            <a:headEnd type="none"/>
            <a:tailEnd type="none"/>
          </a:ln>
        </p:spPr>
      </p:sp>
      <p:sp>
        <p:nvSpPr>
          <p:cNvPr id="9" name="TextBox 9"/>
          <p:cNvSpPr txBox="1"/>
          <p:nvPr/>
        </p:nvSpPr>
        <p:spPr>
          <a:xfrm>
            <a:off x="713602" y="4076700"/>
            <a:ext cx="6142684"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FZYaYiHei GB18030L2 R"/>
                <a:ea typeface="FZYaYiHei GB18030L2 R"/>
                <a:cs typeface="FZYaYiHei GB18030L2 R"/>
              </a:rPr>
              <a:t>Audio Processing:</a:t>
            </a:r>
            <a:endParaRPr lang="en-US" sz="1100"/>
          </a:p>
        </p:txBody>
      </p:sp>
      <p:sp>
        <p:nvSpPr>
          <p:cNvPr id="10" name="TextBox 10"/>
          <p:cNvSpPr txBox="1"/>
          <p:nvPr/>
        </p:nvSpPr>
        <p:spPr>
          <a:xfrm>
            <a:off x="2024151" y="4076700"/>
            <a:ext cx="4430696" cy="40005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Track extraction feeds WhisperX for ASR transcription with word-level</a:t>
            </a:r>
            <a:endParaRPr lang="en-US" sz="1100"/>
          </a:p>
          <a:p>
            <a:pPr algn="l"/>
            <a:r>
              <a:rPr sz="1100" b="0" i="0" strike="noStrike">
                <a:ln/>
                <a:solidFill>
                  <a:srgbClr val="0A1F3D">
                    <a:alpha val="85098"/>
                  </a:srgbClr>
                </a:solidFill>
                <a:latin typeface="FZYaYiHei GB18030L2 R"/>
                <a:ea typeface="FZYaYiHei GB18030L2 R"/>
                <a:cs typeface="FZYaYiHei GB18030L2 R"/>
              </a:rPr>
              <a:t>timestamps and optional speaker diarization.</a:t>
            </a:r>
            <a:endParaRPr/>
          </a:p>
        </p:txBody>
      </p:sp>
      <p:sp>
        <p:nvSpPr>
          <p:cNvPr id="11" name="AutoShape 11"/>
          <p:cNvSpPr/>
          <p:nvPr/>
        </p:nvSpPr>
        <p:spPr>
          <a:xfrm>
            <a:off x="436791" y="4732005"/>
            <a:ext cx="182834" cy="182880"/>
          </a:xfrm>
          <a:custGeom>
            <a:avLst/>
            <a:gdLst/>
            <a:ahLst/>
            <a:cxnLst/>
            <a:rect l="l" t="t" r="r" b="b"/>
            <a:pathLst>
              <a:path w="9998" h="10000">
                <a:moveTo>
                  <a:pt x="6089" y="1111"/>
                </a:moveTo>
                <a:lnTo>
                  <a:pt x="3909" y="1111"/>
                </a:lnTo>
                <a:lnTo>
                  <a:pt x="2909" y="2222"/>
                </a:lnTo>
                <a:lnTo>
                  <a:pt x="1000" y="2222"/>
                </a:lnTo>
                <a:lnTo>
                  <a:pt x="1000" y="8889"/>
                </a:lnTo>
                <a:lnTo>
                  <a:pt x="8998" y="8889"/>
                </a:lnTo>
                <a:lnTo>
                  <a:pt x="8998" y="2222"/>
                </a:lnTo>
                <a:lnTo>
                  <a:pt x="7089" y="2222"/>
                </a:lnTo>
                <a:lnTo>
                  <a:pt x="6089" y="1111"/>
                </a:lnTo>
                <a:moveTo>
                  <a:pt x="2500" y="1111"/>
                </a:moveTo>
                <a:lnTo>
                  <a:pt x="3499" y="0"/>
                </a:lnTo>
                <a:lnTo>
                  <a:pt x="6499" y="0"/>
                </a:lnTo>
                <a:lnTo>
                  <a:pt x="7499" y="1111"/>
                </a:lnTo>
                <a:lnTo>
                  <a:pt x="9498" y="1111"/>
                </a:lnTo>
                <a:cubicBezTo>
                  <a:pt x="9638" y="1111"/>
                  <a:pt x="9756" y="1164"/>
                  <a:pt x="9853" y="1272"/>
                </a:cubicBezTo>
                <a:cubicBezTo>
                  <a:pt x="9949" y="1379"/>
                  <a:pt x="9998" y="1511"/>
                  <a:pt x="9998" y="1667"/>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1667"/>
                </a:lnTo>
                <a:cubicBezTo>
                  <a:pt x="0" y="1511"/>
                  <a:pt x="48" y="1379"/>
                  <a:pt x="145" y="1272"/>
                </a:cubicBezTo>
                <a:cubicBezTo>
                  <a:pt x="241" y="1164"/>
                  <a:pt x="360" y="1111"/>
                  <a:pt x="500" y="1111"/>
                </a:cubicBezTo>
                <a:lnTo>
                  <a:pt x="2500" y="1111"/>
                </a:lnTo>
                <a:moveTo>
                  <a:pt x="4999" y="8333"/>
                </a:moveTo>
                <a:cubicBezTo>
                  <a:pt x="4499" y="8333"/>
                  <a:pt x="4039" y="8196"/>
                  <a:pt x="3619" y="7922"/>
                </a:cubicBezTo>
                <a:cubicBezTo>
                  <a:pt x="3199" y="7648"/>
                  <a:pt x="2865" y="7277"/>
                  <a:pt x="2619" y="6811"/>
                </a:cubicBezTo>
                <a:cubicBezTo>
                  <a:pt x="2373" y="6344"/>
                  <a:pt x="2250" y="5833"/>
                  <a:pt x="2250" y="5278"/>
                </a:cubicBezTo>
                <a:cubicBezTo>
                  <a:pt x="2250" y="4722"/>
                  <a:pt x="2373" y="4210"/>
                  <a:pt x="2619" y="3744"/>
                </a:cubicBezTo>
                <a:cubicBezTo>
                  <a:pt x="2865" y="3277"/>
                  <a:pt x="3199" y="2907"/>
                  <a:pt x="3619" y="2633"/>
                </a:cubicBezTo>
                <a:cubicBezTo>
                  <a:pt x="4039" y="2359"/>
                  <a:pt x="4499" y="2222"/>
                  <a:pt x="4999" y="2222"/>
                </a:cubicBezTo>
                <a:cubicBezTo>
                  <a:pt x="5499" y="2222"/>
                  <a:pt x="5959" y="2359"/>
                  <a:pt x="6379" y="2633"/>
                </a:cubicBezTo>
                <a:cubicBezTo>
                  <a:pt x="6799" y="2907"/>
                  <a:pt x="7132" y="3277"/>
                  <a:pt x="7379" y="3744"/>
                </a:cubicBezTo>
                <a:cubicBezTo>
                  <a:pt x="7625" y="4210"/>
                  <a:pt x="7748" y="4722"/>
                  <a:pt x="7748" y="5278"/>
                </a:cubicBezTo>
                <a:cubicBezTo>
                  <a:pt x="7748" y="5833"/>
                  <a:pt x="7625" y="6344"/>
                  <a:pt x="7379" y="6811"/>
                </a:cubicBezTo>
                <a:cubicBezTo>
                  <a:pt x="7132" y="7277"/>
                  <a:pt x="6799" y="7648"/>
                  <a:pt x="6379" y="7922"/>
                </a:cubicBezTo>
                <a:cubicBezTo>
                  <a:pt x="5959" y="8196"/>
                  <a:pt x="5499" y="8333"/>
                  <a:pt x="4999" y="8333"/>
                </a:cubicBezTo>
                <a:moveTo>
                  <a:pt x="4999" y="7222"/>
                </a:moveTo>
                <a:cubicBezTo>
                  <a:pt x="5319" y="7222"/>
                  <a:pt x="5612" y="7135"/>
                  <a:pt x="5879" y="6961"/>
                </a:cubicBezTo>
                <a:cubicBezTo>
                  <a:pt x="6145" y="6787"/>
                  <a:pt x="6357" y="6552"/>
                  <a:pt x="6514" y="6256"/>
                </a:cubicBezTo>
                <a:cubicBezTo>
                  <a:pt x="6670" y="5959"/>
                  <a:pt x="6749" y="5633"/>
                  <a:pt x="6749" y="5278"/>
                </a:cubicBezTo>
                <a:cubicBezTo>
                  <a:pt x="6749" y="4922"/>
                  <a:pt x="6670" y="4596"/>
                  <a:pt x="6514" y="4300"/>
                </a:cubicBezTo>
                <a:cubicBezTo>
                  <a:pt x="6357" y="4004"/>
                  <a:pt x="6145" y="3768"/>
                  <a:pt x="5879" y="3594"/>
                </a:cubicBezTo>
                <a:cubicBezTo>
                  <a:pt x="5612" y="3420"/>
                  <a:pt x="5319" y="3333"/>
                  <a:pt x="4999" y="3333"/>
                </a:cubicBezTo>
                <a:cubicBezTo>
                  <a:pt x="4679" y="3333"/>
                  <a:pt x="4385" y="3420"/>
                  <a:pt x="4119" y="3594"/>
                </a:cubicBezTo>
                <a:cubicBezTo>
                  <a:pt x="3852" y="3768"/>
                  <a:pt x="3640" y="4004"/>
                  <a:pt x="3484" y="4300"/>
                </a:cubicBezTo>
                <a:cubicBezTo>
                  <a:pt x="3327" y="4596"/>
                  <a:pt x="3249" y="4922"/>
                  <a:pt x="3249" y="5278"/>
                </a:cubicBezTo>
                <a:cubicBezTo>
                  <a:pt x="3249" y="5633"/>
                  <a:pt x="3327" y="5959"/>
                  <a:pt x="3484" y="6256"/>
                </a:cubicBezTo>
                <a:cubicBezTo>
                  <a:pt x="3640" y="6552"/>
                  <a:pt x="3852" y="6787"/>
                  <a:pt x="4119" y="6961"/>
                </a:cubicBezTo>
                <a:cubicBezTo>
                  <a:pt x="4385" y="7135"/>
                  <a:pt x="4679" y="7222"/>
                  <a:pt x="4999" y="7222"/>
                </a:cubicBezTo>
              </a:path>
            </a:pathLst>
          </a:custGeom>
          <a:solidFill>
            <a:srgbClr val="5B8CB8">
              <a:alpha val="100000"/>
            </a:srgbClr>
          </a:solidFill>
          <a:ln>
            <a:headEnd type="none"/>
            <a:tailEnd type="none"/>
          </a:ln>
        </p:spPr>
      </p:sp>
      <p:sp>
        <p:nvSpPr>
          <p:cNvPr id="12" name="TextBox 12"/>
          <p:cNvSpPr txBox="1"/>
          <p:nvPr/>
        </p:nvSpPr>
        <p:spPr>
          <a:xfrm>
            <a:off x="713602" y="4705350"/>
            <a:ext cx="6142684"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FZYaYiHei GB18030L2 R"/>
                <a:ea typeface="FZYaYiHei GB18030L2 R"/>
                <a:cs typeface="FZYaYiHei GB18030L2 R"/>
              </a:rPr>
              <a:t>Visual Sampling:</a:t>
            </a:r>
            <a:endParaRPr lang="en-US" sz="1100"/>
          </a:p>
        </p:txBody>
      </p:sp>
      <p:sp>
        <p:nvSpPr>
          <p:cNvPr id="13" name="TextBox 13"/>
          <p:cNvSpPr txBox="1"/>
          <p:nvPr/>
        </p:nvSpPr>
        <p:spPr>
          <a:xfrm>
            <a:off x="1910475" y="4705350"/>
            <a:ext cx="4849691" cy="40005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Intelligent frame sampling targets scene transitions and low-confidence ASR</a:t>
            </a:r>
            <a:endParaRPr lang="en-US" sz="1100"/>
          </a:p>
          <a:p>
            <a:pPr algn="l"/>
            <a:r>
              <a:rPr sz="1100" b="0" i="0" strike="noStrike">
                <a:ln/>
                <a:solidFill>
                  <a:srgbClr val="0A1F3D">
                    <a:alpha val="85098"/>
                  </a:srgbClr>
                </a:solidFill>
                <a:latin typeface="FZYaYiHei GB18030L2 R"/>
                <a:ea typeface="FZYaYiHei GB18030L2 R"/>
                <a:cs typeface="FZYaYiHei GB18030L2 R"/>
              </a:rPr>
              <a:t>segments for analysis.</a:t>
            </a:r>
            <a:endParaRPr/>
          </a:p>
        </p:txBody>
      </p:sp>
      <p:sp>
        <p:nvSpPr>
          <p:cNvPr id="14" name="AutoShape 14"/>
          <p:cNvSpPr/>
          <p:nvPr/>
        </p:nvSpPr>
        <p:spPr>
          <a:xfrm>
            <a:off x="436791" y="5360655"/>
            <a:ext cx="182834" cy="182880"/>
          </a:xfrm>
          <a:custGeom>
            <a:avLst/>
            <a:gdLst/>
            <a:ahLst/>
            <a:cxnLst/>
            <a:rect l="l" t="t" r="r" b="b"/>
            <a:pathLst>
              <a:path w="9998" h="10000">
                <a:moveTo>
                  <a:pt x="4999" y="0"/>
                </a:moveTo>
                <a:cubicBezTo>
                  <a:pt x="5812" y="0"/>
                  <a:pt x="6582" y="222"/>
                  <a:pt x="7309" y="667"/>
                </a:cubicBezTo>
                <a:cubicBezTo>
                  <a:pt x="8005" y="1096"/>
                  <a:pt x="8591" y="1690"/>
                  <a:pt x="9069" y="2450"/>
                </a:cubicBezTo>
                <a:cubicBezTo>
                  <a:pt x="9546" y="3209"/>
                  <a:pt x="9856" y="4059"/>
                  <a:pt x="9998" y="5000"/>
                </a:cubicBezTo>
                <a:cubicBezTo>
                  <a:pt x="9856" y="5940"/>
                  <a:pt x="9546" y="6790"/>
                  <a:pt x="9069" y="7550"/>
                </a:cubicBezTo>
                <a:cubicBezTo>
                  <a:pt x="8591" y="8309"/>
                  <a:pt x="8005" y="8903"/>
                  <a:pt x="7309" y="9333"/>
                </a:cubicBezTo>
                <a:cubicBezTo>
                  <a:pt x="6582" y="9777"/>
                  <a:pt x="5812" y="10000"/>
                  <a:pt x="4999" y="10000"/>
                </a:cubicBezTo>
                <a:cubicBezTo>
                  <a:pt x="4185" y="10000"/>
                  <a:pt x="3415" y="9777"/>
                  <a:pt x="2689" y="9333"/>
                </a:cubicBezTo>
                <a:cubicBezTo>
                  <a:pt x="1993" y="8903"/>
                  <a:pt x="1406" y="8309"/>
                  <a:pt x="929" y="7550"/>
                </a:cubicBezTo>
                <a:cubicBezTo>
                  <a:pt x="451" y="6790"/>
                  <a:pt x="142" y="5940"/>
                  <a:pt x="0" y="5000"/>
                </a:cubicBezTo>
                <a:cubicBezTo>
                  <a:pt x="142" y="4059"/>
                  <a:pt x="451" y="3209"/>
                  <a:pt x="929" y="2450"/>
                </a:cubicBezTo>
                <a:cubicBezTo>
                  <a:pt x="1406" y="1690"/>
                  <a:pt x="1993" y="1096"/>
                  <a:pt x="2689" y="667"/>
                </a:cubicBezTo>
                <a:cubicBezTo>
                  <a:pt x="3415" y="222"/>
                  <a:pt x="4185" y="0"/>
                  <a:pt x="4999" y="0"/>
                </a:cubicBezTo>
                <a:moveTo>
                  <a:pt x="4999" y="8889"/>
                </a:moveTo>
                <a:cubicBezTo>
                  <a:pt x="5639" y="8889"/>
                  <a:pt x="6249" y="8718"/>
                  <a:pt x="6829" y="8378"/>
                </a:cubicBezTo>
                <a:cubicBezTo>
                  <a:pt x="7389" y="8052"/>
                  <a:pt x="7864" y="7592"/>
                  <a:pt x="8256" y="7000"/>
                </a:cubicBezTo>
                <a:cubicBezTo>
                  <a:pt x="8647" y="6407"/>
                  <a:pt x="8913" y="5740"/>
                  <a:pt x="9055" y="5000"/>
                </a:cubicBezTo>
                <a:cubicBezTo>
                  <a:pt x="8913" y="4259"/>
                  <a:pt x="8647" y="3592"/>
                  <a:pt x="8256" y="3000"/>
                </a:cubicBezTo>
                <a:cubicBezTo>
                  <a:pt x="7864" y="2407"/>
                  <a:pt x="7389" y="1948"/>
                  <a:pt x="6829" y="1622"/>
                </a:cubicBezTo>
                <a:cubicBezTo>
                  <a:pt x="6249" y="1281"/>
                  <a:pt x="5639" y="1111"/>
                  <a:pt x="4999" y="1111"/>
                </a:cubicBezTo>
                <a:cubicBezTo>
                  <a:pt x="4358" y="1111"/>
                  <a:pt x="3748" y="1281"/>
                  <a:pt x="3169" y="1622"/>
                </a:cubicBezTo>
                <a:cubicBezTo>
                  <a:pt x="2609" y="1948"/>
                  <a:pt x="2133" y="2407"/>
                  <a:pt x="1742" y="3000"/>
                </a:cubicBezTo>
                <a:cubicBezTo>
                  <a:pt x="1350" y="3592"/>
                  <a:pt x="1084" y="4259"/>
                  <a:pt x="943" y="5000"/>
                </a:cubicBezTo>
                <a:cubicBezTo>
                  <a:pt x="1084" y="5740"/>
                  <a:pt x="1350" y="6407"/>
                  <a:pt x="1742" y="7000"/>
                </a:cubicBezTo>
                <a:cubicBezTo>
                  <a:pt x="2133" y="7592"/>
                  <a:pt x="2609" y="8052"/>
                  <a:pt x="3169" y="8378"/>
                </a:cubicBezTo>
                <a:cubicBezTo>
                  <a:pt x="3748" y="8718"/>
                  <a:pt x="4358" y="8889"/>
                  <a:pt x="4999" y="8889"/>
                </a:cubicBezTo>
                <a:moveTo>
                  <a:pt x="4999" y="7500"/>
                </a:moveTo>
                <a:cubicBezTo>
                  <a:pt x="4623" y="7500"/>
                  <a:pt x="4276" y="7387"/>
                  <a:pt x="3959" y="7161"/>
                </a:cubicBezTo>
                <a:cubicBezTo>
                  <a:pt x="3642" y="6935"/>
                  <a:pt x="3390" y="6631"/>
                  <a:pt x="3202" y="6250"/>
                </a:cubicBezTo>
                <a:cubicBezTo>
                  <a:pt x="3014" y="5868"/>
                  <a:pt x="2920" y="5452"/>
                  <a:pt x="2920" y="5000"/>
                </a:cubicBezTo>
                <a:cubicBezTo>
                  <a:pt x="2920" y="4548"/>
                  <a:pt x="3014" y="4131"/>
                  <a:pt x="3202" y="3750"/>
                </a:cubicBezTo>
                <a:cubicBezTo>
                  <a:pt x="3390" y="3368"/>
                  <a:pt x="3642" y="3065"/>
                  <a:pt x="3959" y="2839"/>
                </a:cubicBezTo>
                <a:cubicBezTo>
                  <a:pt x="4276" y="2613"/>
                  <a:pt x="4623" y="2500"/>
                  <a:pt x="4999" y="2500"/>
                </a:cubicBezTo>
                <a:cubicBezTo>
                  <a:pt x="5375" y="2500"/>
                  <a:pt x="5721" y="2613"/>
                  <a:pt x="6039" y="2839"/>
                </a:cubicBezTo>
                <a:cubicBezTo>
                  <a:pt x="6355" y="3065"/>
                  <a:pt x="6608" y="3368"/>
                  <a:pt x="6796" y="3750"/>
                </a:cubicBezTo>
                <a:cubicBezTo>
                  <a:pt x="6984" y="4131"/>
                  <a:pt x="7078" y="4548"/>
                  <a:pt x="7078" y="5000"/>
                </a:cubicBezTo>
                <a:cubicBezTo>
                  <a:pt x="7078" y="5452"/>
                  <a:pt x="6984" y="5868"/>
                  <a:pt x="6796" y="6250"/>
                </a:cubicBezTo>
                <a:cubicBezTo>
                  <a:pt x="6608" y="6631"/>
                  <a:pt x="6355" y="6935"/>
                  <a:pt x="6039" y="7161"/>
                </a:cubicBezTo>
                <a:cubicBezTo>
                  <a:pt x="5721" y="7387"/>
                  <a:pt x="5375" y="7500"/>
                  <a:pt x="4999" y="7500"/>
                </a:cubicBezTo>
                <a:moveTo>
                  <a:pt x="4999" y="6389"/>
                </a:moveTo>
                <a:cubicBezTo>
                  <a:pt x="5208" y="6389"/>
                  <a:pt x="5401" y="6326"/>
                  <a:pt x="5577" y="6200"/>
                </a:cubicBezTo>
                <a:cubicBezTo>
                  <a:pt x="5752" y="6074"/>
                  <a:pt x="5892" y="5905"/>
                  <a:pt x="5997" y="5694"/>
                </a:cubicBezTo>
                <a:cubicBezTo>
                  <a:pt x="6101" y="5483"/>
                  <a:pt x="6154" y="5252"/>
                  <a:pt x="6154" y="5000"/>
                </a:cubicBezTo>
                <a:cubicBezTo>
                  <a:pt x="6154" y="4748"/>
                  <a:pt x="6101" y="4516"/>
                  <a:pt x="5997" y="4306"/>
                </a:cubicBezTo>
                <a:cubicBezTo>
                  <a:pt x="5892" y="4094"/>
                  <a:pt x="5752" y="3926"/>
                  <a:pt x="5577" y="3800"/>
                </a:cubicBezTo>
                <a:cubicBezTo>
                  <a:pt x="5401" y="3674"/>
                  <a:pt x="5208" y="3611"/>
                  <a:pt x="4999" y="3611"/>
                </a:cubicBezTo>
                <a:cubicBezTo>
                  <a:pt x="4789" y="3611"/>
                  <a:pt x="4597" y="3674"/>
                  <a:pt x="4421" y="3800"/>
                </a:cubicBezTo>
                <a:cubicBezTo>
                  <a:pt x="4245" y="3926"/>
                  <a:pt x="4105" y="4094"/>
                  <a:pt x="4001" y="4306"/>
                </a:cubicBezTo>
                <a:cubicBezTo>
                  <a:pt x="3896" y="4516"/>
                  <a:pt x="3844" y="4748"/>
                  <a:pt x="3844" y="5000"/>
                </a:cubicBezTo>
                <a:cubicBezTo>
                  <a:pt x="3844" y="5252"/>
                  <a:pt x="3896" y="5483"/>
                  <a:pt x="4001" y="5694"/>
                </a:cubicBezTo>
                <a:cubicBezTo>
                  <a:pt x="4105" y="5905"/>
                  <a:pt x="4245" y="6074"/>
                  <a:pt x="4421" y="6200"/>
                </a:cubicBezTo>
                <a:cubicBezTo>
                  <a:pt x="4597" y="6326"/>
                  <a:pt x="4789" y="6389"/>
                  <a:pt x="4999" y="6389"/>
                </a:cubicBezTo>
              </a:path>
            </a:pathLst>
          </a:custGeom>
          <a:solidFill>
            <a:srgbClr val="5B8CB8">
              <a:alpha val="100000"/>
            </a:srgbClr>
          </a:solidFill>
          <a:ln>
            <a:headEnd type="none"/>
            <a:tailEnd type="none"/>
          </a:ln>
        </p:spPr>
      </p:sp>
      <p:sp>
        <p:nvSpPr>
          <p:cNvPr id="15" name="TextBox 15"/>
          <p:cNvSpPr txBox="1"/>
          <p:nvPr/>
        </p:nvSpPr>
        <p:spPr>
          <a:xfrm>
            <a:off x="713602" y="5334000"/>
            <a:ext cx="6142684"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FZYaYiHei GB18030L2 R"/>
                <a:ea typeface="FZYaYiHei GB18030L2 R"/>
                <a:cs typeface="FZYaYiHei GB18030L2 R"/>
              </a:rPr>
              <a:t>Visual Analysis:</a:t>
            </a:r>
            <a:endParaRPr lang="en-US" sz="1100"/>
          </a:p>
        </p:txBody>
      </p:sp>
      <p:sp>
        <p:nvSpPr>
          <p:cNvPr id="16" name="TextBox 16"/>
          <p:cNvSpPr txBox="1"/>
          <p:nvPr/>
        </p:nvSpPr>
        <p:spPr>
          <a:xfrm>
            <a:off x="1849918" y="5334000"/>
            <a:ext cx="4774998" cy="40005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Qwen3-VL-4B processes frames to extract visible text, identify terminology,</a:t>
            </a:r>
            <a:endParaRPr lang="en-US" sz="1100"/>
          </a:p>
          <a:p>
            <a:pPr algn="l"/>
            <a:r>
              <a:rPr sz="1100" b="0" i="0" strike="noStrike">
                <a:ln/>
                <a:solidFill>
                  <a:srgbClr val="0A1F3D">
                    <a:alpha val="85098"/>
                  </a:srgbClr>
                </a:solidFill>
                <a:latin typeface="FZYaYiHei GB18030L2 R"/>
                <a:ea typeface="FZYaYiHei GB18030L2 R"/>
                <a:cs typeface="FZYaYiHei GB18030L2 R"/>
              </a:rPr>
              <a:t>and generate evidence.</a:t>
            </a:r>
            <a:endParaRPr/>
          </a:p>
        </p:txBody>
      </p:sp>
      <p:sp>
        <p:nvSpPr>
          <p:cNvPr id="17" name="TextBox 17"/>
          <p:cNvSpPr txBox="1"/>
          <p:nvPr/>
        </p:nvSpPr>
        <p:spPr>
          <a:xfrm>
            <a:off x="571358" y="5962650"/>
            <a:ext cx="6284928"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FZYaYiHei GB18030L2 R"/>
                <a:ea typeface="FZYaYiHei GB18030L2 R"/>
                <a:cs typeface="FZYaYiHei GB18030L2 R"/>
              </a:rPr>
              <a:t>Evidence Fusion:</a:t>
            </a:r>
            <a:endParaRPr lang="en-US" sz="1100"/>
          </a:p>
        </p:txBody>
      </p:sp>
      <p:sp>
        <p:nvSpPr>
          <p:cNvPr id="18" name="TextBox 18"/>
          <p:cNvSpPr txBox="1"/>
          <p:nvPr/>
        </p:nvSpPr>
        <p:spPr>
          <a:xfrm>
            <a:off x="1802602" y="5962650"/>
            <a:ext cx="4574130" cy="40005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Timestamp-synchronized merging aligns ASR, visual data, and glossary</a:t>
            </a:r>
            <a:endParaRPr lang="en-US" sz="1100"/>
          </a:p>
          <a:p>
            <a:pPr algn="l"/>
            <a:r>
              <a:rPr sz="1100" b="0" i="0" strike="noStrike">
                <a:ln/>
                <a:solidFill>
                  <a:srgbClr val="0A1F3D">
                    <a:alpha val="85098"/>
                  </a:srgbClr>
                </a:solidFill>
                <a:latin typeface="FZYaYiHei GB18030L2 R"/>
                <a:ea typeface="FZYaYiHei GB18030L2 R"/>
                <a:cs typeface="FZYaYiHei GB18030L2 R"/>
              </a:rPr>
              <a:t>matches before Qwen3-8B generates output.</a:t>
            </a:r>
            <a:endParaRPr/>
          </a:p>
        </p:txBody>
      </p:sp>
      <p:sp>
        <p:nvSpPr>
          <p:cNvPr id="19" name="AutoShape 19"/>
          <p:cNvSpPr/>
          <p:nvPr/>
        </p:nvSpPr>
        <p:spPr>
          <a:xfrm>
            <a:off x="7161009" y="3088928"/>
            <a:ext cx="4570857" cy="1428750"/>
          </a:xfrm>
          <a:prstGeom prst="rect">
            <a:avLst/>
          </a:prstGeom>
          <a:solidFill>
            <a:srgbClr val="E8EBEF">
              <a:alpha val="100000"/>
            </a:srgbClr>
          </a:solidFill>
          <a:ln w="9525">
            <a:solidFill>
              <a:srgbClr val="C5CDD6">
                <a:alpha val="100000"/>
              </a:srgbClr>
            </a:solidFill>
            <a:prstDash val="solid"/>
            <a:headEnd type="none"/>
            <a:tailEnd type="none"/>
          </a:ln>
        </p:spPr>
      </p:sp>
      <p:pic>
        <p:nvPicPr>
          <p:cNvPr id="20" name="Picture 20"/>
          <p:cNvPicPr>
            <a:picLocks noChangeAspect="1"/>
          </p:cNvPicPr>
          <p:nvPr/>
        </p:nvPicPr>
        <p:blipFill>
          <a:blip r:embed="rId3">
            <a:alphaModFix/>
          </a:blip>
          <a:srcRect l="166" r="166"/>
          <a:stretch>
            <a:fillRect/>
          </a:stretch>
        </p:blipFill>
        <p:spPr>
          <a:xfrm>
            <a:off x="7170532" y="3098453"/>
            <a:ext cx="4551812" cy="1409700"/>
          </a:xfrm>
          <a:prstGeom prst="rect">
            <a:avLst/>
          </a:prstGeom>
          <a:ln>
            <a:headEnd type="none"/>
            <a:tailEnd type="none"/>
          </a:ln>
        </p:spPr>
      </p:pic>
      <p:sp>
        <p:nvSpPr>
          <p:cNvPr id="21" name="TextBox 21"/>
          <p:cNvSpPr txBox="1"/>
          <p:nvPr/>
        </p:nvSpPr>
        <p:spPr>
          <a:xfrm>
            <a:off x="7161009" y="4603403"/>
            <a:ext cx="4570857" cy="114300"/>
          </a:xfrm>
          <a:prstGeom prst="rect">
            <a:avLst/>
          </a:prstGeom>
          <a:ln>
            <a:headEnd type="none"/>
            <a:tailEnd type="none"/>
          </a:ln>
        </p:spPr>
        <p:txBody>
          <a:bodyPr vert="horz" wrap="square" lIns="0" tIns="0" rIns="0" bIns="0" rtlCol="0" anchor="t" anchorCtr="0"/>
          <a:lstStyle/>
          <a:p>
            <a:pPr algn="l">
              <a:defRPr/>
            </a:pPr>
            <a:r>
              <a:rPr lang="en-US" sz="800" b="0" i="0" strike="noStrike">
                <a:ln/>
                <a:solidFill>
                  <a:srgbClr val="0A1F3D">
                    <a:alpha val="50196"/>
                  </a:srgbClr>
                </a:solidFill>
                <a:latin typeface="Alibaba PuHuiTi 3.0 55 Regular"/>
                <a:ea typeface="Alibaba PuHuiTi 3.0 55 Regular"/>
                <a:cs typeface="Alibaba PuHuiTi 3.0 55 Regular"/>
              </a:rPr>
              <a:t>Figure: Multimodal pipeline architecture with parallel processing tracks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8001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Technical Stack &amp; Model Configuration</a:t>
            </a:r>
            <a:endParaRPr lang="en-US" sz="1100"/>
          </a:p>
        </p:txBody>
      </p:sp>
      <p:sp>
        <p:nvSpPr>
          <p:cNvPr id="5" name="TextBox 5"/>
          <p:cNvSpPr txBox="1"/>
          <p:nvPr/>
        </p:nvSpPr>
        <p:spPr>
          <a:xfrm>
            <a:off x="457086" y="1514475"/>
            <a:ext cx="11731866" cy="679846"/>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The prototype integrates specialized models across four functional layers: WhisperX variants for audio processing with configurable model sizes, Qwen3-VL-4B for</a:t>
            </a:r>
            <a:endParaRPr lang="en-US" sz="1100"/>
          </a:p>
          <a:p>
            <a:pPr algn="l"/>
            <a:r>
              <a:rPr sz="1200" b="0" i="0" strike="noStrike">
                <a:ln/>
                <a:solidFill>
                  <a:srgbClr val="0A1F3D">
                    <a:alpha val="85098"/>
                  </a:srgbClr>
                </a:solidFill>
                <a:latin typeface="FZYaYiHei GB18030L2 R"/>
                <a:ea typeface="FZYaYiHei GB18030L2 R"/>
                <a:cs typeface="FZYaYiHei GB18030L2 R"/>
              </a:rPr>
              <a:t>visual understanding of presentation content, Qwen3-8B for generative text repair with evidence synthesis, and a lightweight fuzzy-matching retrieval layer using local</a:t>
            </a:r>
            <a:endParaRPr/>
          </a:p>
          <a:p>
            <a:pPr algn="l"/>
            <a:r>
              <a:rPr sz="1200" b="0" i="0" strike="noStrike">
                <a:ln/>
                <a:solidFill>
                  <a:srgbClr val="0A1F3D">
                    <a:alpha val="85098"/>
                  </a:srgbClr>
                </a:solidFill>
                <a:latin typeface="FZYaYiHei GB18030L2 R"/>
                <a:ea typeface="FZYaYiHei GB18030L2 R"/>
                <a:cs typeface="FZYaYiHei GB18030L2 R"/>
              </a:rPr>
              <a:t>JSON glossaries. This architecture prioritizes modularity and API compatibility over monolithic integration.</a:t>
            </a:r>
            <a:endParaRPr/>
          </a:p>
        </p:txBody>
      </p:sp>
      <p:sp>
        <p:nvSpPr>
          <p:cNvPr id="8" name="TextBox 8"/>
          <p:cNvSpPr txBox="1"/>
          <p:nvPr/>
        </p:nvSpPr>
        <p:spPr>
          <a:xfrm>
            <a:off x="457086" y="2103833"/>
            <a:ext cx="10798650" cy="190500"/>
          </a:xfrm>
          <a:prstGeom prst="rect">
            <a:avLst/>
          </a:prstGeom>
          <a:ln>
            <a:headEnd type="none"/>
            <a:tailEnd type="none"/>
          </a:ln>
        </p:spPr>
        <p:txBody>
          <a:bodyPr vert="horz" wrap="square" lIns="0" tIns="0" rIns="0" bIns="0" rtlCol="0" anchor="t" anchorCtr="0"/>
          <a:lstStyle/>
          <a:p>
            <a:pPr algn="l">
              <a:defRPr/>
            </a:pPr>
            <a:r>
              <a:rPr lang="en-US" sz="1300" b="1" i="0" strike="noStrike" dirty="0">
                <a:ln/>
                <a:solidFill>
                  <a:srgbClr val="0A1F3D">
                    <a:alpha val="100000"/>
                  </a:srgbClr>
                </a:solidFill>
                <a:latin typeface="Alibaba PuHuiTi 3.0 55 Regular"/>
                <a:ea typeface="Alibaba PuHuiTi 3.0 55 Regular"/>
                <a:cs typeface="Alibaba PuHuiTi 3.0 55 Regular"/>
              </a:rPr>
              <a:t>Model Specifications</a:t>
            </a:r>
            <a:endParaRPr lang="en-US" sz="1100" dirty="0"/>
          </a:p>
        </p:txBody>
      </p:sp>
      <p:graphicFrame>
        <p:nvGraphicFramePr>
          <p:cNvPr id="9" name="Table 9"/>
          <p:cNvGraphicFramePr>
            <a:graphicFrameLocks noGrp="1"/>
          </p:cNvGraphicFramePr>
          <p:nvPr>
            <p:extLst>
              <p:ext uri="{D42A27DB-BD31-4B8C-83A1-F6EECF244321}">
                <p14:modId xmlns:p14="http://schemas.microsoft.com/office/powerpoint/2010/main" val="160106113"/>
              </p:ext>
            </p:extLst>
          </p:nvPr>
        </p:nvGraphicFramePr>
        <p:xfrm>
          <a:off x="457086" y="2328863"/>
          <a:ext cx="10782300" cy="2362200"/>
        </p:xfrm>
        <a:graphic>
          <a:graphicData uri="http://schemas.openxmlformats.org/drawingml/2006/table">
            <a:tbl>
              <a:tblPr/>
              <a:tblGrid>
                <a:gridCol w="2108200">
                  <a:extLst>
                    <a:ext uri="{9D8B030D-6E8A-4147-A177-3AD203B41FA5}">
                      <a16:colId xmlns:a16="http://schemas.microsoft.com/office/drawing/2014/main" val="20000"/>
                    </a:ext>
                  </a:extLst>
                </a:gridCol>
                <a:gridCol w="3594100">
                  <a:extLst>
                    <a:ext uri="{9D8B030D-6E8A-4147-A177-3AD203B41FA5}">
                      <a16:colId xmlns:a16="http://schemas.microsoft.com/office/drawing/2014/main" val="20001"/>
                    </a:ext>
                  </a:extLst>
                </a:gridCol>
                <a:gridCol w="5080000">
                  <a:extLst>
                    <a:ext uri="{9D8B030D-6E8A-4147-A177-3AD203B41FA5}">
                      <a16:colId xmlns:a16="http://schemas.microsoft.com/office/drawing/2014/main" val="20002"/>
                    </a:ext>
                  </a:extLst>
                </a:gridCol>
              </a:tblGrid>
              <a:tr h="393700">
                <a:tc>
                  <a:txBody>
                    <a:bodyPr/>
                    <a:lstStyle/>
                    <a:p>
                      <a:pPr algn="l">
                        <a:def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defRPr>
                      </a:pPr>
                      <a:r>
                        <a: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rPr>
                        <a:t>Component</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F1F3F5">
                        <a:alpha val="100000"/>
                      </a:srgbClr>
                    </a:solidFill>
                  </a:tcPr>
                </a:tc>
                <a:tc>
                  <a:txBody>
                    <a:bodyPr/>
                    <a:lstStyle/>
                    <a:p>
                      <a:pPr algn="l">
                        <a:def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defRPr>
                      </a:pPr>
                      <a:r>
                        <a: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rPr>
                        <a:t>Model/Tool</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F1F3F5">
                        <a:alpha val="100000"/>
                      </a:srgbClr>
                    </a:solidFill>
                  </a:tcPr>
                </a:tc>
                <a:tc>
                  <a:txBody>
                    <a:bodyPr/>
                    <a:lstStyle/>
                    <a:p>
                      <a:pPr algn="l">
                        <a:def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defRPr>
                      </a:pPr>
                      <a:r>
                        <a:rPr sz="1100" b="1" i="0" strike="noStrike">
                          <a:ln/>
                          <a:solidFill>
                            <a:srgbClr val="0A1F3D">
                              <a:alpha val="100000"/>
                            </a:srgbClr>
                          </a:solidFill>
                          <a:latin typeface="&quot;Alibaba PuHuiTi 3.0 55 Regular&quot;, sans-serif"/>
                          <a:ea typeface="&quot;Alibaba PuHuiTi 3.0 55 Regular&quot;, sans-serif"/>
                          <a:cs typeface="&quot;Alibaba PuHuiTi 3.0 55 Regular&quot;, sans-serif"/>
                        </a:rPr>
                        <a:t>Purpose</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solidFill>
                      <a:srgbClr val="F1F3F5">
                        <a:alpha val="100000"/>
                      </a:srgbClr>
                    </a:solidFill>
                  </a:tcPr>
                </a:tc>
                <a:extLst>
                  <a:ext uri="{0D108BD9-81ED-4DB2-BD59-A6C34878D82A}">
                    <a16:rowId xmlns:a16="http://schemas.microsoft.com/office/drawing/2014/main" val="10000"/>
                  </a:ext>
                </a:extLst>
              </a:tr>
              <a:tr h="393700">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dirty="0">
                          <a:ln/>
                          <a:solidFill>
                            <a:srgbClr val="0A1F3D">
                              <a:alpha val="100000"/>
                            </a:srgbClr>
                          </a:solidFill>
                          <a:latin typeface="&quot;FZYaYiHei GB18030L2 R&quot;, sans-serif"/>
                          <a:ea typeface="&quot;FZYaYiHei GB18030L2 R&quot;, sans-serif"/>
                          <a:cs typeface="&quot;FZYaYiHei GB18030L2 R&quot;, sans-serif"/>
                        </a:rPr>
                        <a:t>ASR</a:t>
                      </a:r>
                      <a:endParaRPr dirty="0"/>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WhisperX (base)</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Audio transcription with timestamps</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extLst>
                  <a:ext uri="{0D108BD9-81ED-4DB2-BD59-A6C34878D82A}">
                    <a16:rowId xmlns:a16="http://schemas.microsoft.com/office/drawing/2014/main" val="10001"/>
                  </a:ext>
                </a:extLst>
              </a:tr>
              <a:tr h="393700">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Diarization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pyannote (optional)</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Speaker segmentation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extLst>
                  <a:ext uri="{0D108BD9-81ED-4DB2-BD59-A6C34878D82A}">
                    <a16:rowId xmlns:a16="http://schemas.microsoft.com/office/drawing/2014/main" val="10002"/>
                  </a:ext>
                </a:extLst>
              </a:tr>
              <a:tr h="393700">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Vision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Qwen3-VL-4B</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Frame analysis &amp; text extraction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extLst>
                  <a:ext uri="{0D108BD9-81ED-4DB2-BD59-A6C34878D82A}">
                    <a16:rowId xmlns:a16="http://schemas.microsoft.com/office/drawing/2014/main" val="10003"/>
                  </a:ext>
                </a:extLst>
              </a:tr>
              <a:tr h="393700">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Text Repair</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Qwen3-8B</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Transcript generation &amp; correction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extLst>
                  <a:ext uri="{0D108BD9-81ED-4DB2-BD59-A6C34878D82A}">
                    <a16:rowId xmlns:a16="http://schemas.microsoft.com/office/drawing/2014/main" val="10004"/>
                  </a:ext>
                </a:extLst>
              </a:tr>
              <a:tr h="393700">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Retrieval</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a:ln/>
                          <a:solidFill>
                            <a:srgbClr val="0A1F3D">
                              <a:alpha val="100000"/>
                            </a:srgbClr>
                          </a:solidFill>
                          <a:latin typeface="&quot;FZYaYiHei GB18030L2 R&quot;, sans-serif"/>
                          <a:ea typeface="&quot;FZYaYiHei GB18030L2 R&quot;, sans-serif"/>
                          <a:cs typeface="&quot;FZYaYiHei GB18030L2 R&quot;, sans-serif"/>
                        </a:rPr>
                        <a:t>Fuzzy matching (JSON)</a:t>
                      </a:r>
                      <a:endParaRPr/>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tc>
                  <a:txBody>
                    <a:bodyPr/>
                    <a:lstStyle/>
                    <a:p>
                      <a:pPr algn="l">
                        <a:defRPr sz="1100" b="0" i="0" strike="noStrike">
                          <a:ln/>
                          <a:solidFill>
                            <a:srgbClr val="0A1F3D">
                              <a:alpha val="100000"/>
                            </a:srgbClr>
                          </a:solidFill>
                          <a:latin typeface="&quot;FZYaYiHei GB18030L2 R&quot;, sans-serif"/>
                          <a:ea typeface="&quot;FZYaYiHei GB18030L2 R&quot;, sans-serif"/>
                          <a:cs typeface="&quot;FZYaYiHei GB18030L2 R&quot;, sans-serif"/>
                        </a:defRPr>
                      </a:pPr>
                      <a:r>
                        <a:rPr sz="1100" b="0" i="0" strike="noStrike" dirty="0">
                          <a:ln/>
                          <a:solidFill>
                            <a:srgbClr val="0A1F3D">
                              <a:alpha val="100000"/>
                            </a:srgbClr>
                          </a:solidFill>
                          <a:latin typeface="&quot;FZYaYiHei GB18030L2 R&quot;, sans-serif"/>
                          <a:ea typeface="&quot;FZYaYiHei GB18030L2 R&quot;, sans-serif"/>
                          <a:cs typeface="&quot;FZYaYiHei GB18030L2 R&quot;, sans-serif"/>
                        </a:rPr>
                        <a:t>Domain term verification</a:t>
                      </a:r>
                      <a:endParaRPr dirty="0"/>
                    </a:p>
                  </a:txBody>
                  <a:tcPr>
                    <a:lnL w="25400">
                      <a:solidFill>
                        <a:srgbClr val="5B8CB8">
                          <a:alpha val="100000"/>
                        </a:srgbClr>
                      </a:solidFill>
                    </a:lnL>
                    <a:lnR w="25400">
                      <a:solidFill>
                        <a:srgbClr val="5B8CB8">
                          <a:alpha val="100000"/>
                        </a:srgbClr>
                      </a:solidFill>
                    </a:lnR>
                    <a:lnT w="25400">
                      <a:solidFill>
                        <a:srgbClr val="5B8CB8">
                          <a:alpha val="100000"/>
                        </a:srgbClr>
                      </a:solidFill>
                    </a:lnT>
                    <a:lnB w="25400">
                      <a:solidFill>
                        <a:srgbClr val="5B8CB8">
                          <a:alpha val="100000"/>
                        </a:srgbClr>
                      </a:solidFill>
                    </a:lnB>
                  </a:tcPr>
                </a:tc>
                <a:extLst>
                  <a:ext uri="{0D108BD9-81ED-4DB2-BD59-A6C34878D82A}">
                    <a16:rowId xmlns:a16="http://schemas.microsoft.com/office/drawing/2014/main" val="10005"/>
                  </a:ext>
                </a:extLst>
              </a:tr>
            </a:tbl>
          </a:graphicData>
        </a:graphic>
      </p:graphicFrame>
      <p:sp>
        <p:nvSpPr>
          <p:cNvPr id="11" name="TextBox 11"/>
          <p:cNvSpPr txBox="1"/>
          <p:nvPr/>
        </p:nvSpPr>
        <p:spPr>
          <a:xfrm>
            <a:off x="457086" y="4724400"/>
            <a:ext cx="228543"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5B8CB8">
                    <a:alpha val="100000"/>
                  </a:srgbClr>
                </a:solidFill>
                <a:latin typeface="Alibaba PuHuiTi 3.0 55 Regular"/>
                <a:ea typeface="Alibaba PuHuiTi 3.0 55 Regular"/>
                <a:cs typeface="Alibaba PuHuiTi 3.0 55 Regular"/>
              </a:rPr>
              <a:t>01</a:t>
            </a:r>
            <a:endParaRPr lang="en-US" sz="1100"/>
          </a:p>
        </p:txBody>
      </p:sp>
      <p:sp>
        <p:nvSpPr>
          <p:cNvPr id="12" name="TextBox 12"/>
          <p:cNvSpPr txBox="1"/>
          <p:nvPr/>
        </p:nvSpPr>
        <p:spPr>
          <a:xfrm>
            <a:off x="799899" y="4714875"/>
            <a:ext cx="10954880" cy="3905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90196"/>
                  </a:srgbClr>
                </a:solidFill>
                <a:latin typeface="FZYaYiHei GB18030L2 R"/>
                <a:ea typeface="FZYaYiHei GB18030L2 R"/>
                <a:cs typeface="FZYaYiHei GB18030L2 R"/>
              </a:rPr>
              <a:t>WhisperX with configurable model sizes (base default, optional tiny/small/medium/large) provides ASR transcription with word-level timestamps and optional pyannote-based</a:t>
            </a:r>
            <a:endParaRPr lang="en-US" sz="1100"/>
          </a:p>
          <a:p>
            <a:pPr algn="l"/>
            <a:r>
              <a:rPr sz="1100" b="0" i="0" strike="noStrike">
                <a:ln/>
                <a:solidFill>
                  <a:srgbClr val="0A1F3D">
                    <a:alpha val="90196"/>
                  </a:srgbClr>
                </a:solidFill>
                <a:latin typeface="FZYaYiHei GB18030L2 R"/>
                <a:ea typeface="FZYaYiHei GB18030L2 R"/>
                <a:cs typeface="FZYaYiHei GB18030L2 R"/>
              </a:rPr>
              <a:t>speaker diarization requiring HuggingFace authentication tokens</a:t>
            </a:r>
            <a:endParaRPr/>
          </a:p>
        </p:txBody>
      </p:sp>
      <p:sp>
        <p:nvSpPr>
          <p:cNvPr id="13" name="TextBox 13"/>
          <p:cNvSpPr txBox="1"/>
          <p:nvPr/>
        </p:nvSpPr>
        <p:spPr>
          <a:xfrm>
            <a:off x="457086" y="5295900"/>
            <a:ext cx="228543"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5B8CB8">
                    <a:alpha val="100000"/>
                  </a:srgbClr>
                </a:solidFill>
                <a:latin typeface="Alibaba PuHuiTi 3.0 55 Regular"/>
                <a:ea typeface="Alibaba PuHuiTi 3.0 55 Regular"/>
                <a:cs typeface="Alibaba PuHuiTi 3.0 55 Regular"/>
              </a:rPr>
              <a:t>02</a:t>
            </a:r>
            <a:endParaRPr lang="en-US" sz="1100"/>
          </a:p>
        </p:txBody>
      </p:sp>
      <p:sp>
        <p:nvSpPr>
          <p:cNvPr id="14" name="TextBox 14"/>
          <p:cNvSpPr txBox="1"/>
          <p:nvPr/>
        </p:nvSpPr>
        <p:spPr>
          <a:xfrm>
            <a:off x="799899" y="5286375"/>
            <a:ext cx="10660720"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90196"/>
                  </a:srgbClr>
                </a:solidFill>
                <a:latin typeface="FZYaYiHei GB18030L2 R"/>
                <a:ea typeface="FZYaYiHei GB18030L2 R"/>
                <a:cs typeface="FZYaYiHei GB18030L2 R"/>
              </a:rPr>
              <a:t>Qwen3-VL-4B-Instruct handles visual frame analysis, extracting visible text, scene descriptions, and technical term identification from strategically sampled video frames</a:t>
            </a:r>
            <a:endParaRPr lang="en-US" sz="1100"/>
          </a:p>
        </p:txBody>
      </p:sp>
      <p:sp>
        <p:nvSpPr>
          <p:cNvPr id="15" name="TextBox 15"/>
          <p:cNvSpPr txBox="1"/>
          <p:nvPr/>
        </p:nvSpPr>
        <p:spPr>
          <a:xfrm>
            <a:off x="457086" y="5638800"/>
            <a:ext cx="228543"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5B8CB8">
                    <a:alpha val="100000"/>
                  </a:srgbClr>
                </a:solidFill>
                <a:latin typeface="Alibaba PuHuiTi 3.0 55 Regular"/>
                <a:ea typeface="Alibaba PuHuiTi 3.0 55 Regular"/>
                <a:cs typeface="Alibaba PuHuiTi 3.0 55 Regular"/>
              </a:rPr>
              <a:t>03</a:t>
            </a:r>
            <a:endParaRPr lang="en-US" sz="1100"/>
          </a:p>
        </p:txBody>
      </p:sp>
      <p:sp>
        <p:nvSpPr>
          <p:cNvPr id="16" name="TextBox 16"/>
          <p:cNvSpPr txBox="1"/>
          <p:nvPr/>
        </p:nvSpPr>
        <p:spPr>
          <a:xfrm>
            <a:off x="799899" y="5629275"/>
            <a:ext cx="10621439" cy="1619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90196"/>
                  </a:srgbClr>
                </a:solidFill>
                <a:latin typeface="FZYaYiHei GB18030L2 R"/>
                <a:ea typeface="FZYaYiHei GB18030L2 R"/>
                <a:cs typeface="FZYaYiHei GB18030L2 R"/>
              </a:rPr>
              <a:t>Qwen3-8B accessed via OpenAI-compatible API performs generative transcript repair, synthesizing ASR output, visual evidence, and retrieval results into corrected text</a:t>
            </a:r>
            <a:endParaRPr lang="en-US" sz="1100"/>
          </a:p>
        </p:txBody>
      </p:sp>
      <p:sp>
        <p:nvSpPr>
          <p:cNvPr id="17" name="TextBox 17"/>
          <p:cNvSpPr txBox="1"/>
          <p:nvPr/>
        </p:nvSpPr>
        <p:spPr>
          <a:xfrm>
            <a:off x="457086" y="5981700"/>
            <a:ext cx="228543" cy="142875"/>
          </a:xfrm>
          <a:prstGeom prst="rect">
            <a:avLst/>
          </a:prstGeom>
          <a:ln>
            <a:headEnd type="none"/>
            <a:tailEnd type="none"/>
          </a:ln>
        </p:spPr>
        <p:txBody>
          <a:bodyPr vert="horz" wrap="none" lIns="0" tIns="0" rIns="0" bIns="0" rtlCol="0" anchor="t" anchorCtr="0"/>
          <a:lstStyle/>
          <a:p>
            <a:pPr algn="l">
              <a:defRPr/>
            </a:pPr>
            <a:r>
              <a:rPr lang="en-US" sz="900" b="1" i="0" strike="noStrike">
                <a:ln/>
                <a:solidFill>
                  <a:srgbClr val="5B8CB8">
                    <a:alpha val="100000"/>
                  </a:srgbClr>
                </a:solidFill>
                <a:latin typeface="Alibaba PuHuiTi 3.0 55 Regular"/>
                <a:ea typeface="Alibaba PuHuiTi 3.0 55 Regular"/>
                <a:cs typeface="Alibaba PuHuiTi 3.0 55 Regular"/>
              </a:rPr>
              <a:t>04</a:t>
            </a:r>
            <a:endParaRPr lang="en-US" sz="1100"/>
          </a:p>
        </p:txBody>
      </p:sp>
      <p:sp>
        <p:nvSpPr>
          <p:cNvPr id="18" name="TextBox 18"/>
          <p:cNvSpPr txBox="1"/>
          <p:nvPr/>
        </p:nvSpPr>
        <p:spPr>
          <a:xfrm>
            <a:off x="799899" y="5972175"/>
            <a:ext cx="10931966" cy="390525"/>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90196"/>
                  </a:srgbClr>
                </a:solidFill>
                <a:latin typeface="FZYaYiHei GB18030L2 R"/>
                <a:ea typeface="FZYaYiHei GB18030L2 R"/>
                <a:cs typeface="FZYaYiHei GB18030L2 R"/>
              </a:rPr>
              <a:t>Lightweight RAG implementation currently uses local data/glossary.json with fuzzy string matching rather than vector embeddings, enabling rapid prototyping without</a:t>
            </a:r>
            <a:endParaRPr lang="en-US" sz="1100"/>
          </a:p>
          <a:p>
            <a:pPr algn="l"/>
            <a:r>
              <a:rPr sz="1100" b="0" i="0" strike="noStrike">
                <a:ln/>
                <a:solidFill>
                  <a:srgbClr val="0A1F3D">
                    <a:alpha val="90196"/>
                  </a:srgbClr>
                </a:solidFill>
                <a:latin typeface="FZYaYiHei GB18030L2 R"/>
                <a:ea typeface="FZYaYiHei GB18030L2 R"/>
                <a:cs typeface="FZYaYiHei GB18030L2 R"/>
              </a:rPr>
              <a:t>database infrastructure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8001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dirty="0">
                <a:ln/>
                <a:solidFill>
                  <a:srgbClr val="0A1F3D">
                    <a:alpha val="100000"/>
                  </a:srgbClr>
                </a:solidFill>
                <a:latin typeface="Alibaba PuHuiTi 3.0 55 Regular"/>
                <a:ea typeface="Alibaba PuHuiTi 3.0 55 Regular"/>
                <a:cs typeface="Alibaba PuHuiTi 3.0 55 Regular"/>
              </a:rPr>
              <a:t>Current Limitations &amp; Prototype Status</a:t>
            </a:r>
            <a:endParaRPr lang="en-US" sz="1100" dirty="0"/>
          </a:p>
        </p:txBody>
      </p:sp>
      <p:sp>
        <p:nvSpPr>
          <p:cNvPr id="5" name="TextBox 5"/>
          <p:cNvSpPr txBox="1"/>
          <p:nvPr/>
        </p:nvSpPr>
        <p:spPr>
          <a:xfrm>
            <a:off x="457086" y="1466850"/>
            <a:ext cx="11731866" cy="957858"/>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The current implementation represents a functional proof-of-concept rather than a production system. Critical gaps include the absence of vector-</a:t>
            </a:r>
            <a:endParaRPr lang="en-US" sz="1100"/>
          </a:p>
          <a:p>
            <a:pPr algn="l"/>
            <a:r>
              <a:rPr sz="1200" b="0" i="0" strike="noStrike">
                <a:ln/>
                <a:solidFill>
                  <a:srgbClr val="0A1F3D">
                    <a:alpha val="85098"/>
                  </a:srgbClr>
                </a:solidFill>
                <a:latin typeface="FZYaYiHei GB18030L2 R"/>
                <a:ea typeface="FZYaYiHei GB18030L2 R"/>
                <a:cs typeface="FZYaYiHei GB18030L2 R"/>
              </a:rPr>
              <a:t>based retrieval infrastructure, dependency on external APIs for vision and language models creating latency and availability constraints, lack of user</a:t>
            </a:r>
            <a:endParaRPr/>
          </a:p>
          <a:p>
            <a:pPr algn="l"/>
            <a:r>
              <a:rPr sz="1200" b="0" i="0" strike="noStrike">
                <a:ln/>
                <a:solidFill>
                  <a:srgbClr val="0A1F3D">
                    <a:alpha val="85098"/>
                  </a:srgbClr>
                </a:solidFill>
                <a:latin typeface="FZYaYiHei GB18030L2 R"/>
                <a:ea typeface="FZYaYiHei GB18030L2 R"/>
                <a:cs typeface="FZYaYiHei GB18030L2 R"/>
              </a:rPr>
              <a:t>interface requiring command-line operation, and absence of quantitative evaluation metrics to validate repair accuracy improvements over baseline</a:t>
            </a:r>
            <a:endParaRPr/>
          </a:p>
          <a:p>
            <a:pPr algn="l"/>
            <a:r>
              <a:rPr sz="1200" b="0" i="0" strike="noStrike">
                <a:ln/>
                <a:solidFill>
                  <a:srgbClr val="0A1F3D">
                    <a:alpha val="85098"/>
                  </a:srgbClr>
                </a:solidFill>
                <a:latin typeface="FZYaYiHei GB18030L2 R"/>
                <a:ea typeface="FZYaYiHei GB18030L2 R"/>
                <a:cs typeface="FZYaYiHei GB18030L2 R"/>
              </a:rPr>
              <a:t>ASR.</a:t>
            </a:r>
            <a:endParaRPr/>
          </a:p>
        </p:txBody>
      </p:sp>
      <p:sp>
        <p:nvSpPr>
          <p:cNvPr id="6" name="AutoShape 6"/>
          <p:cNvSpPr/>
          <p:nvPr/>
        </p:nvSpPr>
        <p:spPr>
          <a:xfrm>
            <a:off x="457086" y="2731294"/>
            <a:ext cx="5542164" cy="1739504"/>
          </a:xfrm>
          <a:prstGeom prst="rect">
            <a:avLst/>
          </a:prstGeom>
          <a:solidFill>
            <a:srgbClr val="E8EBEF">
              <a:alpha val="100000"/>
            </a:srgbClr>
          </a:solidFill>
          <a:ln w="9525">
            <a:solidFill>
              <a:srgbClr val="C5CDD6">
                <a:alpha val="100000"/>
              </a:srgbClr>
            </a:solidFill>
            <a:prstDash val="solid"/>
            <a:headEnd type="none"/>
            <a:tailEnd type="none"/>
          </a:ln>
        </p:spPr>
      </p:sp>
      <p:sp>
        <p:nvSpPr>
          <p:cNvPr id="7" name="AutoShape 7"/>
          <p:cNvSpPr/>
          <p:nvPr/>
        </p:nvSpPr>
        <p:spPr>
          <a:xfrm>
            <a:off x="457086" y="2731294"/>
            <a:ext cx="5542164" cy="9525"/>
          </a:xfrm>
          <a:prstGeom prst="line">
            <a:avLst/>
          </a:prstGeom>
          <a:ln w="28575">
            <a:solidFill>
              <a:srgbClr val="5B8CB8">
                <a:alpha val="100000"/>
              </a:srgbClr>
            </a:solidFill>
            <a:prstDash val="solid"/>
            <a:headEnd type="none"/>
            <a:tailEnd type="none"/>
          </a:ln>
        </p:spPr>
      </p:sp>
      <p:sp>
        <p:nvSpPr>
          <p:cNvPr id="8" name="AutoShape 8"/>
          <p:cNvSpPr/>
          <p:nvPr/>
        </p:nvSpPr>
        <p:spPr>
          <a:xfrm>
            <a:off x="674023" y="3017044"/>
            <a:ext cx="190452" cy="190500"/>
          </a:xfrm>
          <a:custGeom>
            <a:avLst/>
            <a:gdLst/>
            <a:ahLst/>
            <a:cxnLst/>
            <a:rect l="l" t="t" r="r" b="b"/>
            <a:pathLst>
              <a:path w="9998" h="10000">
                <a:moveTo>
                  <a:pt x="1111" y="3853"/>
                </a:moveTo>
                <a:lnTo>
                  <a:pt x="1111" y="5000"/>
                </a:lnTo>
                <a:cubicBezTo>
                  <a:pt x="1111" y="5091"/>
                  <a:pt x="1177" y="5200"/>
                  <a:pt x="1311" y="5326"/>
                </a:cubicBezTo>
                <a:cubicBezTo>
                  <a:pt x="1466" y="5466"/>
                  <a:pt x="1684" y="5603"/>
                  <a:pt x="1966" y="5737"/>
                </a:cubicBezTo>
                <a:cubicBezTo>
                  <a:pt x="2351" y="5919"/>
                  <a:pt x="2807" y="6061"/>
                  <a:pt x="3333" y="6163"/>
                </a:cubicBezTo>
                <a:cubicBezTo>
                  <a:pt x="3858" y="6265"/>
                  <a:pt x="4413" y="6316"/>
                  <a:pt x="4999" y="6316"/>
                </a:cubicBezTo>
                <a:cubicBezTo>
                  <a:pt x="5584" y="6316"/>
                  <a:pt x="6139" y="6265"/>
                  <a:pt x="6665" y="6163"/>
                </a:cubicBezTo>
                <a:cubicBezTo>
                  <a:pt x="7191" y="6061"/>
                  <a:pt x="7646" y="5919"/>
                  <a:pt x="8032" y="5737"/>
                </a:cubicBezTo>
                <a:cubicBezTo>
                  <a:pt x="8313" y="5603"/>
                  <a:pt x="8531" y="5466"/>
                  <a:pt x="8687" y="5326"/>
                </a:cubicBezTo>
                <a:cubicBezTo>
                  <a:pt x="8820" y="5200"/>
                  <a:pt x="8887" y="5091"/>
                  <a:pt x="8887" y="5000"/>
                </a:cubicBezTo>
                <a:lnTo>
                  <a:pt x="8887" y="3853"/>
                </a:lnTo>
                <a:cubicBezTo>
                  <a:pt x="8420" y="4126"/>
                  <a:pt x="7853" y="4340"/>
                  <a:pt x="7187" y="4495"/>
                </a:cubicBezTo>
                <a:cubicBezTo>
                  <a:pt x="6498" y="4656"/>
                  <a:pt x="5769" y="4737"/>
                  <a:pt x="4999" y="4737"/>
                </a:cubicBezTo>
                <a:cubicBezTo>
                  <a:pt x="4229" y="4737"/>
                  <a:pt x="3499" y="4656"/>
                  <a:pt x="2811" y="4495"/>
                </a:cubicBezTo>
                <a:cubicBezTo>
                  <a:pt x="2144" y="4340"/>
                  <a:pt x="1577" y="4126"/>
                  <a:pt x="1111" y="3853"/>
                </a:cubicBezTo>
                <a:moveTo>
                  <a:pt x="8887" y="7632"/>
                </a:moveTo>
                <a:lnTo>
                  <a:pt x="8887" y="6484"/>
                </a:lnTo>
                <a:cubicBezTo>
                  <a:pt x="8420" y="6758"/>
                  <a:pt x="7853" y="6972"/>
                  <a:pt x="7187" y="7126"/>
                </a:cubicBezTo>
                <a:cubicBezTo>
                  <a:pt x="6498" y="7287"/>
                  <a:pt x="5769" y="7368"/>
                  <a:pt x="4999" y="7368"/>
                </a:cubicBezTo>
                <a:cubicBezTo>
                  <a:pt x="4229" y="7368"/>
                  <a:pt x="3499" y="7287"/>
                  <a:pt x="2811" y="7126"/>
                </a:cubicBezTo>
                <a:cubicBezTo>
                  <a:pt x="2144" y="6972"/>
                  <a:pt x="1577" y="6758"/>
                  <a:pt x="1111" y="6484"/>
                </a:cubicBezTo>
                <a:lnTo>
                  <a:pt x="1111" y="7632"/>
                </a:lnTo>
                <a:cubicBezTo>
                  <a:pt x="1111" y="7722"/>
                  <a:pt x="1177" y="7831"/>
                  <a:pt x="1311" y="7958"/>
                </a:cubicBezTo>
                <a:cubicBezTo>
                  <a:pt x="1466" y="8098"/>
                  <a:pt x="1684" y="8234"/>
                  <a:pt x="1966" y="8368"/>
                </a:cubicBezTo>
                <a:cubicBezTo>
                  <a:pt x="2351" y="8550"/>
                  <a:pt x="2807" y="8693"/>
                  <a:pt x="3333" y="8795"/>
                </a:cubicBezTo>
                <a:cubicBezTo>
                  <a:pt x="3858" y="8896"/>
                  <a:pt x="4413" y="8947"/>
                  <a:pt x="4999" y="8947"/>
                </a:cubicBezTo>
                <a:cubicBezTo>
                  <a:pt x="5584" y="8947"/>
                  <a:pt x="6139" y="8896"/>
                  <a:pt x="6665" y="8795"/>
                </a:cubicBezTo>
                <a:cubicBezTo>
                  <a:pt x="7191" y="8693"/>
                  <a:pt x="7646" y="8550"/>
                  <a:pt x="8032" y="8368"/>
                </a:cubicBezTo>
                <a:cubicBezTo>
                  <a:pt x="8313" y="8234"/>
                  <a:pt x="8531" y="8098"/>
                  <a:pt x="8687" y="7958"/>
                </a:cubicBezTo>
                <a:cubicBezTo>
                  <a:pt x="8820" y="7831"/>
                  <a:pt x="8887" y="7722"/>
                  <a:pt x="8887" y="7632"/>
                </a:cubicBezTo>
                <a:moveTo>
                  <a:pt x="0" y="7632"/>
                </a:moveTo>
                <a:lnTo>
                  <a:pt x="0" y="2368"/>
                </a:lnTo>
                <a:cubicBezTo>
                  <a:pt x="0" y="1940"/>
                  <a:pt x="226" y="1540"/>
                  <a:pt x="678" y="1168"/>
                </a:cubicBezTo>
                <a:cubicBezTo>
                  <a:pt x="1122" y="817"/>
                  <a:pt x="1721" y="536"/>
                  <a:pt x="2477" y="326"/>
                </a:cubicBezTo>
                <a:cubicBezTo>
                  <a:pt x="3255" y="108"/>
                  <a:pt x="4095" y="0"/>
                  <a:pt x="4999" y="0"/>
                </a:cubicBezTo>
                <a:cubicBezTo>
                  <a:pt x="5902" y="0"/>
                  <a:pt x="6743" y="108"/>
                  <a:pt x="7521" y="326"/>
                </a:cubicBezTo>
                <a:cubicBezTo>
                  <a:pt x="8276" y="536"/>
                  <a:pt x="8876" y="817"/>
                  <a:pt x="9320" y="1168"/>
                </a:cubicBezTo>
                <a:cubicBezTo>
                  <a:pt x="9772" y="1540"/>
                  <a:pt x="9998" y="1940"/>
                  <a:pt x="9998" y="2368"/>
                </a:cubicBezTo>
                <a:lnTo>
                  <a:pt x="9998" y="7632"/>
                </a:lnTo>
                <a:cubicBezTo>
                  <a:pt x="9998" y="8060"/>
                  <a:pt x="9772" y="8460"/>
                  <a:pt x="9320" y="8832"/>
                </a:cubicBezTo>
                <a:cubicBezTo>
                  <a:pt x="8876" y="9182"/>
                  <a:pt x="8276" y="9463"/>
                  <a:pt x="7521" y="9674"/>
                </a:cubicBezTo>
                <a:cubicBezTo>
                  <a:pt x="6743" y="9891"/>
                  <a:pt x="5902" y="10000"/>
                  <a:pt x="4999" y="10000"/>
                </a:cubicBezTo>
                <a:cubicBezTo>
                  <a:pt x="4095" y="10000"/>
                  <a:pt x="3255" y="9891"/>
                  <a:pt x="2477" y="9674"/>
                </a:cubicBezTo>
                <a:cubicBezTo>
                  <a:pt x="1721" y="9463"/>
                  <a:pt x="1122" y="9182"/>
                  <a:pt x="678" y="8832"/>
                </a:cubicBezTo>
                <a:cubicBezTo>
                  <a:pt x="226" y="8460"/>
                  <a:pt x="0" y="8060"/>
                  <a:pt x="0" y="7632"/>
                </a:cubicBezTo>
                <a:moveTo>
                  <a:pt x="4999" y="3684"/>
                </a:moveTo>
                <a:cubicBezTo>
                  <a:pt x="5584" y="3684"/>
                  <a:pt x="6139" y="3633"/>
                  <a:pt x="6665" y="3532"/>
                </a:cubicBezTo>
                <a:cubicBezTo>
                  <a:pt x="7191" y="3430"/>
                  <a:pt x="7646" y="3287"/>
                  <a:pt x="8032" y="3105"/>
                </a:cubicBezTo>
                <a:cubicBezTo>
                  <a:pt x="8313" y="2971"/>
                  <a:pt x="8531" y="2835"/>
                  <a:pt x="8687" y="2695"/>
                </a:cubicBezTo>
                <a:cubicBezTo>
                  <a:pt x="8820" y="2568"/>
                  <a:pt x="8887" y="2459"/>
                  <a:pt x="8887" y="2368"/>
                </a:cubicBezTo>
                <a:cubicBezTo>
                  <a:pt x="8887" y="2277"/>
                  <a:pt x="8820" y="2168"/>
                  <a:pt x="8687" y="2042"/>
                </a:cubicBezTo>
                <a:cubicBezTo>
                  <a:pt x="8531" y="1902"/>
                  <a:pt x="8313" y="1765"/>
                  <a:pt x="8032" y="1632"/>
                </a:cubicBezTo>
                <a:cubicBezTo>
                  <a:pt x="7646" y="1449"/>
                  <a:pt x="7191" y="1307"/>
                  <a:pt x="6665" y="1205"/>
                </a:cubicBezTo>
                <a:cubicBezTo>
                  <a:pt x="6139" y="1103"/>
                  <a:pt x="5584" y="1053"/>
                  <a:pt x="4999" y="1053"/>
                </a:cubicBezTo>
                <a:cubicBezTo>
                  <a:pt x="4413" y="1053"/>
                  <a:pt x="3858" y="1103"/>
                  <a:pt x="3333" y="1205"/>
                </a:cubicBezTo>
                <a:cubicBezTo>
                  <a:pt x="2807" y="1307"/>
                  <a:pt x="2351" y="1449"/>
                  <a:pt x="1966" y="1632"/>
                </a:cubicBezTo>
                <a:cubicBezTo>
                  <a:pt x="1684" y="1765"/>
                  <a:pt x="1466" y="1902"/>
                  <a:pt x="1311" y="2042"/>
                </a:cubicBezTo>
                <a:cubicBezTo>
                  <a:pt x="1177" y="2168"/>
                  <a:pt x="1111" y="2277"/>
                  <a:pt x="1111" y="2368"/>
                </a:cubicBezTo>
                <a:cubicBezTo>
                  <a:pt x="1111" y="2459"/>
                  <a:pt x="1177" y="2568"/>
                  <a:pt x="1311" y="2695"/>
                </a:cubicBezTo>
                <a:cubicBezTo>
                  <a:pt x="1466" y="2835"/>
                  <a:pt x="1684" y="2971"/>
                  <a:pt x="1966" y="3105"/>
                </a:cubicBezTo>
                <a:cubicBezTo>
                  <a:pt x="2351" y="3287"/>
                  <a:pt x="2807" y="3430"/>
                  <a:pt x="3333" y="3532"/>
                </a:cubicBezTo>
                <a:cubicBezTo>
                  <a:pt x="3858" y="3633"/>
                  <a:pt x="4413" y="3684"/>
                  <a:pt x="4999" y="3684"/>
                </a:cubicBezTo>
              </a:path>
            </a:pathLst>
          </a:custGeom>
          <a:solidFill>
            <a:srgbClr val="5B8CB8">
              <a:alpha val="100000"/>
            </a:srgbClr>
          </a:solidFill>
          <a:ln>
            <a:headEnd type="none"/>
            <a:tailEnd type="none"/>
          </a:ln>
        </p:spPr>
      </p:sp>
      <p:sp>
        <p:nvSpPr>
          <p:cNvPr id="9" name="TextBox 9"/>
          <p:cNvSpPr txBox="1"/>
          <p:nvPr/>
        </p:nvSpPr>
        <p:spPr>
          <a:xfrm>
            <a:off x="957618" y="2969419"/>
            <a:ext cx="2046023"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Alibaba PuHuiTi 3.0 55 Regular"/>
                <a:ea typeface="Alibaba PuHuiTi 3.0 55 Regular"/>
                <a:cs typeface="Alibaba PuHuiTi 3.0 55 Regular"/>
              </a:rPr>
              <a:t>RAG Infrastructure Limitation</a:t>
            </a:r>
            <a:endParaRPr lang="en-US" sz="1100"/>
          </a:p>
        </p:txBody>
      </p:sp>
      <p:sp>
        <p:nvSpPr>
          <p:cNvPr id="10" name="TextBox 10"/>
          <p:cNvSpPr txBox="1"/>
          <p:nvPr/>
        </p:nvSpPr>
        <p:spPr>
          <a:xfrm>
            <a:off x="695151" y="3359944"/>
            <a:ext cx="5304099" cy="36567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0000"/>
                  </a:srgbClr>
                </a:solidFill>
                <a:latin typeface="FZYaYiHei GB18030L2 R"/>
                <a:ea typeface="FZYaYiHei GB18030L2 R"/>
                <a:cs typeface="FZYaYiHei GB18030L2 R"/>
              </a:rPr>
              <a:t>Relies on local JSON glossaries with fuzzy string matching rather than embedding-</a:t>
            </a:r>
            <a:endParaRPr lang="en-US" sz="1100"/>
          </a:p>
          <a:p>
            <a:pPr algn="l"/>
            <a:r>
              <a:rPr sz="1000" b="0" i="0" strike="noStrike">
                <a:ln/>
                <a:solidFill>
                  <a:srgbClr val="0A1F3D">
                    <a:alpha val="80000"/>
                  </a:srgbClr>
                </a:solidFill>
                <a:latin typeface="FZYaYiHei GB18030L2 R"/>
                <a:ea typeface="FZYaYiHei GB18030L2 R"/>
                <a:cs typeface="FZYaYiHei GB18030L2 R"/>
              </a:rPr>
              <a:t>based vector retrieval, limiting semantic matching capabilities and scalability.</a:t>
            </a:r>
            <a:endParaRPr/>
          </a:p>
        </p:txBody>
      </p:sp>
      <p:sp>
        <p:nvSpPr>
          <p:cNvPr id="11" name="AutoShape 11"/>
          <p:cNvSpPr/>
          <p:nvPr/>
        </p:nvSpPr>
        <p:spPr>
          <a:xfrm>
            <a:off x="6189702" y="2731294"/>
            <a:ext cx="5542164" cy="1739504"/>
          </a:xfrm>
          <a:prstGeom prst="rect">
            <a:avLst/>
          </a:prstGeom>
          <a:solidFill>
            <a:srgbClr val="E8EBEF">
              <a:alpha val="100000"/>
            </a:srgbClr>
          </a:solidFill>
          <a:ln w="9525">
            <a:solidFill>
              <a:srgbClr val="C5CDD6">
                <a:alpha val="100000"/>
              </a:srgbClr>
            </a:solidFill>
            <a:prstDash val="solid"/>
            <a:headEnd type="none"/>
            <a:tailEnd type="none"/>
          </a:ln>
        </p:spPr>
      </p:sp>
      <p:sp>
        <p:nvSpPr>
          <p:cNvPr id="12" name="AutoShape 12"/>
          <p:cNvSpPr/>
          <p:nvPr/>
        </p:nvSpPr>
        <p:spPr>
          <a:xfrm>
            <a:off x="6189702" y="2731294"/>
            <a:ext cx="5542164" cy="9525"/>
          </a:xfrm>
          <a:prstGeom prst="line">
            <a:avLst/>
          </a:prstGeom>
          <a:ln w="28575">
            <a:solidFill>
              <a:srgbClr val="5B8CB8">
                <a:alpha val="100000"/>
              </a:srgbClr>
            </a:solidFill>
            <a:prstDash val="solid"/>
            <a:headEnd type="none"/>
            <a:tailEnd type="none"/>
          </a:ln>
        </p:spPr>
      </p:sp>
      <p:sp>
        <p:nvSpPr>
          <p:cNvPr id="13" name="AutoShape 13"/>
          <p:cNvSpPr/>
          <p:nvPr/>
        </p:nvSpPr>
        <p:spPr>
          <a:xfrm>
            <a:off x="6406639" y="3017044"/>
            <a:ext cx="190452" cy="190500"/>
          </a:xfrm>
          <a:custGeom>
            <a:avLst/>
            <a:gdLst/>
            <a:ahLst/>
            <a:cxnLst/>
            <a:rect l="l" t="t" r="r" b="b"/>
            <a:pathLst>
              <a:path w="9998" h="10000">
                <a:moveTo>
                  <a:pt x="500" y="738"/>
                </a:moveTo>
                <a:lnTo>
                  <a:pt x="1145" y="49"/>
                </a:lnTo>
                <a:lnTo>
                  <a:pt x="9816" y="9311"/>
                </a:lnTo>
                <a:lnTo>
                  <a:pt x="9180" y="10000"/>
                </a:lnTo>
                <a:lnTo>
                  <a:pt x="8262" y="9019"/>
                </a:lnTo>
                <a:cubicBezTo>
                  <a:pt x="7946" y="9155"/>
                  <a:pt x="7616" y="9223"/>
                  <a:pt x="7271" y="9223"/>
                </a:cubicBezTo>
                <a:lnTo>
                  <a:pt x="2727" y="9223"/>
                </a:lnTo>
                <a:cubicBezTo>
                  <a:pt x="2236" y="9223"/>
                  <a:pt x="1778" y="9090"/>
                  <a:pt x="1354" y="8825"/>
                </a:cubicBezTo>
                <a:cubicBezTo>
                  <a:pt x="942" y="8566"/>
                  <a:pt x="615" y="8217"/>
                  <a:pt x="373" y="7777"/>
                </a:cubicBezTo>
                <a:cubicBezTo>
                  <a:pt x="124" y="7323"/>
                  <a:pt x="0" y="6835"/>
                  <a:pt x="0" y="6311"/>
                </a:cubicBezTo>
                <a:cubicBezTo>
                  <a:pt x="0" y="5896"/>
                  <a:pt x="77" y="5503"/>
                  <a:pt x="232" y="5131"/>
                </a:cubicBezTo>
                <a:cubicBezTo>
                  <a:pt x="386" y="4759"/>
                  <a:pt x="601" y="4437"/>
                  <a:pt x="877" y="4165"/>
                </a:cubicBezTo>
                <a:cubicBezTo>
                  <a:pt x="1153" y="3893"/>
                  <a:pt x="1466" y="3692"/>
                  <a:pt x="1818" y="3563"/>
                </a:cubicBezTo>
                <a:lnTo>
                  <a:pt x="1818" y="3398"/>
                </a:lnTo>
                <a:cubicBezTo>
                  <a:pt x="1818" y="3022"/>
                  <a:pt x="1872" y="2663"/>
                  <a:pt x="1981" y="2320"/>
                </a:cubicBezTo>
                <a:lnTo>
                  <a:pt x="500" y="738"/>
                </a:lnTo>
                <a:moveTo>
                  <a:pt x="2727" y="3398"/>
                </a:moveTo>
                <a:cubicBezTo>
                  <a:pt x="2727" y="3436"/>
                  <a:pt x="2727" y="3475"/>
                  <a:pt x="2727" y="3515"/>
                </a:cubicBezTo>
                <a:lnTo>
                  <a:pt x="2763" y="4233"/>
                </a:lnTo>
                <a:lnTo>
                  <a:pt x="2127" y="4476"/>
                </a:lnTo>
                <a:cubicBezTo>
                  <a:pt x="1763" y="4612"/>
                  <a:pt x="1469" y="4848"/>
                  <a:pt x="1245" y="5184"/>
                </a:cubicBezTo>
                <a:cubicBezTo>
                  <a:pt x="1021" y="5520"/>
                  <a:pt x="909" y="5896"/>
                  <a:pt x="909" y="6311"/>
                </a:cubicBezTo>
                <a:cubicBezTo>
                  <a:pt x="909" y="6660"/>
                  <a:pt x="990" y="6984"/>
                  <a:pt x="1154" y="7282"/>
                </a:cubicBezTo>
                <a:cubicBezTo>
                  <a:pt x="1318" y="7579"/>
                  <a:pt x="1539" y="7815"/>
                  <a:pt x="1818" y="7990"/>
                </a:cubicBezTo>
                <a:cubicBezTo>
                  <a:pt x="2096" y="8164"/>
                  <a:pt x="2399" y="8252"/>
                  <a:pt x="2727" y="8252"/>
                </a:cubicBezTo>
                <a:lnTo>
                  <a:pt x="7271" y="8252"/>
                </a:lnTo>
                <a:cubicBezTo>
                  <a:pt x="7356" y="8252"/>
                  <a:pt x="7438" y="8245"/>
                  <a:pt x="7517" y="8233"/>
                </a:cubicBezTo>
                <a:lnTo>
                  <a:pt x="2745" y="3126"/>
                </a:lnTo>
                <a:cubicBezTo>
                  <a:pt x="2733" y="3216"/>
                  <a:pt x="2727" y="3307"/>
                  <a:pt x="2727" y="3398"/>
                </a:cubicBezTo>
                <a:moveTo>
                  <a:pt x="4999" y="0"/>
                </a:moveTo>
                <a:cubicBezTo>
                  <a:pt x="5574" y="0"/>
                  <a:pt x="6110" y="155"/>
                  <a:pt x="6608" y="466"/>
                </a:cubicBezTo>
                <a:cubicBezTo>
                  <a:pt x="7086" y="764"/>
                  <a:pt x="7465" y="1168"/>
                  <a:pt x="7744" y="1680"/>
                </a:cubicBezTo>
                <a:cubicBezTo>
                  <a:pt x="8034" y="2210"/>
                  <a:pt x="8180" y="2783"/>
                  <a:pt x="8180" y="3398"/>
                </a:cubicBezTo>
                <a:lnTo>
                  <a:pt x="8180" y="3563"/>
                </a:lnTo>
                <a:cubicBezTo>
                  <a:pt x="8531" y="3692"/>
                  <a:pt x="8845" y="3893"/>
                  <a:pt x="9121" y="4165"/>
                </a:cubicBezTo>
                <a:cubicBezTo>
                  <a:pt x="9396" y="4437"/>
                  <a:pt x="9611" y="4759"/>
                  <a:pt x="9766" y="5131"/>
                </a:cubicBezTo>
                <a:cubicBezTo>
                  <a:pt x="9920" y="5503"/>
                  <a:pt x="9998" y="5896"/>
                  <a:pt x="9998" y="6311"/>
                </a:cubicBezTo>
                <a:cubicBezTo>
                  <a:pt x="9998" y="6828"/>
                  <a:pt x="9876" y="7310"/>
                  <a:pt x="9634" y="7757"/>
                </a:cubicBezTo>
                <a:lnTo>
                  <a:pt x="8962" y="7039"/>
                </a:lnTo>
                <a:cubicBezTo>
                  <a:pt x="9046" y="6805"/>
                  <a:pt x="9089" y="6563"/>
                  <a:pt x="9089" y="6311"/>
                </a:cubicBezTo>
                <a:cubicBezTo>
                  <a:pt x="9089" y="5955"/>
                  <a:pt x="9007" y="5629"/>
                  <a:pt x="8844" y="5335"/>
                </a:cubicBezTo>
                <a:cubicBezTo>
                  <a:pt x="8680" y="5040"/>
                  <a:pt x="8458" y="4805"/>
                  <a:pt x="8180" y="4631"/>
                </a:cubicBezTo>
                <a:cubicBezTo>
                  <a:pt x="7901" y="4456"/>
                  <a:pt x="7598" y="4369"/>
                  <a:pt x="7271" y="4369"/>
                </a:cubicBezTo>
                <a:cubicBezTo>
                  <a:pt x="7035" y="4369"/>
                  <a:pt x="6808" y="4414"/>
                  <a:pt x="6590" y="4505"/>
                </a:cubicBezTo>
                <a:lnTo>
                  <a:pt x="5917" y="3786"/>
                </a:lnTo>
                <a:cubicBezTo>
                  <a:pt x="6335" y="3527"/>
                  <a:pt x="6786" y="3398"/>
                  <a:pt x="7271" y="3398"/>
                </a:cubicBezTo>
                <a:cubicBezTo>
                  <a:pt x="7271" y="2958"/>
                  <a:pt x="7169" y="2552"/>
                  <a:pt x="6967" y="2180"/>
                </a:cubicBezTo>
                <a:cubicBezTo>
                  <a:pt x="6763" y="1807"/>
                  <a:pt x="6488" y="1512"/>
                  <a:pt x="6140" y="1296"/>
                </a:cubicBezTo>
                <a:cubicBezTo>
                  <a:pt x="5791" y="1079"/>
                  <a:pt x="5411" y="971"/>
                  <a:pt x="4999" y="971"/>
                </a:cubicBezTo>
                <a:cubicBezTo>
                  <a:pt x="4520" y="971"/>
                  <a:pt x="4084" y="1116"/>
                  <a:pt x="3690" y="1408"/>
                </a:cubicBezTo>
                <a:lnTo>
                  <a:pt x="3045" y="718"/>
                </a:lnTo>
                <a:cubicBezTo>
                  <a:pt x="3317" y="485"/>
                  <a:pt x="3620" y="307"/>
                  <a:pt x="3954" y="184"/>
                </a:cubicBezTo>
                <a:cubicBezTo>
                  <a:pt x="4287" y="61"/>
                  <a:pt x="4635" y="0"/>
                  <a:pt x="4999" y="0"/>
                </a:cubicBezTo>
              </a:path>
            </a:pathLst>
          </a:custGeom>
          <a:solidFill>
            <a:srgbClr val="5B8CB8">
              <a:alpha val="100000"/>
            </a:srgbClr>
          </a:solidFill>
          <a:ln>
            <a:headEnd type="none"/>
            <a:tailEnd type="none"/>
          </a:ln>
        </p:spPr>
      </p:sp>
      <p:sp>
        <p:nvSpPr>
          <p:cNvPr id="14" name="TextBox 14"/>
          <p:cNvSpPr txBox="1"/>
          <p:nvPr/>
        </p:nvSpPr>
        <p:spPr>
          <a:xfrm>
            <a:off x="6690234" y="2969419"/>
            <a:ext cx="1882503"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Alibaba PuHuiTi 3.0 55 Regular"/>
                <a:ea typeface="Alibaba PuHuiTi 3.0 55 Regular"/>
                <a:cs typeface="Alibaba PuHuiTi 3.0 55 Regular"/>
              </a:rPr>
              <a:t>External API Dependencies</a:t>
            </a:r>
            <a:endParaRPr lang="en-US" sz="1100"/>
          </a:p>
        </p:txBody>
      </p:sp>
      <p:sp>
        <p:nvSpPr>
          <p:cNvPr id="15" name="TextBox 15"/>
          <p:cNvSpPr txBox="1"/>
          <p:nvPr/>
        </p:nvSpPr>
        <p:spPr>
          <a:xfrm>
            <a:off x="6427767" y="3359944"/>
            <a:ext cx="5304099" cy="57894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0000"/>
                  </a:srgbClr>
                </a:solidFill>
                <a:latin typeface="FZYaYiHei GB18030L2 R"/>
                <a:ea typeface="FZYaYiHei GB18030L2 R"/>
                <a:cs typeface="FZYaYiHei GB18030L2 R"/>
              </a:rPr>
              <a:t>Vision analysis and text repair stages depend on external API calls or local model</a:t>
            </a:r>
            <a:endParaRPr lang="en-US" sz="1100"/>
          </a:p>
          <a:p>
            <a:pPr algn="l"/>
            <a:r>
              <a:rPr sz="1000" b="0" i="0" strike="noStrike">
                <a:ln/>
                <a:solidFill>
                  <a:srgbClr val="0A1F3D">
                    <a:alpha val="80000"/>
                  </a:srgbClr>
                </a:solidFill>
                <a:latin typeface="FZYaYiHei GB18030L2 R"/>
                <a:ea typeface="FZYaYiHei GB18030L2 R"/>
                <a:cs typeface="FZYaYiHei GB18030L2 R"/>
              </a:rPr>
              <a:t>hosting, introducing network latency, resource requirements, and potential availability</a:t>
            </a:r>
            <a:endParaRPr/>
          </a:p>
          <a:p>
            <a:pPr algn="l"/>
            <a:r>
              <a:rPr sz="1000" b="0" i="0" strike="noStrike">
                <a:ln/>
                <a:solidFill>
                  <a:srgbClr val="0A1F3D">
                    <a:alpha val="80000"/>
                  </a:srgbClr>
                </a:solidFill>
                <a:latin typeface="FZYaYiHei GB18030L2 R"/>
                <a:ea typeface="FZYaYiHei GB18030L2 R"/>
                <a:cs typeface="FZYaYiHei GB18030L2 R"/>
              </a:rPr>
              <a:t>constraints.</a:t>
            </a:r>
            <a:endParaRPr/>
          </a:p>
        </p:txBody>
      </p:sp>
      <p:sp>
        <p:nvSpPr>
          <p:cNvPr id="16" name="AutoShape 16"/>
          <p:cNvSpPr/>
          <p:nvPr/>
        </p:nvSpPr>
        <p:spPr>
          <a:xfrm>
            <a:off x="457086" y="4661298"/>
            <a:ext cx="5542164" cy="1739504"/>
          </a:xfrm>
          <a:prstGeom prst="rect">
            <a:avLst/>
          </a:prstGeom>
          <a:solidFill>
            <a:srgbClr val="E8EBEF">
              <a:alpha val="100000"/>
            </a:srgbClr>
          </a:solidFill>
          <a:ln w="9525">
            <a:solidFill>
              <a:srgbClr val="C5CDD6">
                <a:alpha val="100000"/>
              </a:srgbClr>
            </a:solidFill>
            <a:prstDash val="solid"/>
            <a:headEnd type="none"/>
            <a:tailEnd type="none"/>
          </a:ln>
        </p:spPr>
      </p:sp>
      <p:sp>
        <p:nvSpPr>
          <p:cNvPr id="17" name="AutoShape 17"/>
          <p:cNvSpPr/>
          <p:nvPr/>
        </p:nvSpPr>
        <p:spPr>
          <a:xfrm>
            <a:off x="457086" y="4661298"/>
            <a:ext cx="5542164" cy="9525"/>
          </a:xfrm>
          <a:prstGeom prst="line">
            <a:avLst/>
          </a:prstGeom>
          <a:ln w="28575">
            <a:solidFill>
              <a:srgbClr val="5B8CB8">
                <a:alpha val="100000"/>
              </a:srgbClr>
            </a:solidFill>
            <a:prstDash val="solid"/>
            <a:headEnd type="none"/>
            <a:tailEnd type="none"/>
          </a:ln>
        </p:spPr>
      </p:sp>
      <p:sp>
        <p:nvSpPr>
          <p:cNvPr id="18" name="AutoShape 18"/>
          <p:cNvSpPr/>
          <p:nvPr/>
        </p:nvSpPr>
        <p:spPr>
          <a:xfrm>
            <a:off x="674023" y="4947048"/>
            <a:ext cx="190452" cy="190500"/>
          </a:xfrm>
          <a:custGeom>
            <a:avLst/>
            <a:gdLst/>
            <a:ahLst/>
            <a:cxnLst/>
            <a:rect l="l" t="t" r="r" b="b"/>
            <a:pathLst>
              <a:path w="9998" h="10000">
                <a:moveTo>
                  <a:pt x="768" y="0"/>
                </a:moveTo>
                <a:lnTo>
                  <a:pt x="4588" y="4403"/>
                </a:lnTo>
                <a:lnTo>
                  <a:pt x="768" y="8794"/>
                </a:lnTo>
                <a:lnTo>
                  <a:pt x="0" y="7923"/>
                </a:lnTo>
                <a:lnTo>
                  <a:pt x="3062" y="4403"/>
                </a:lnTo>
                <a:lnTo>
                  <a:pt x="0" y="883"/>
                </a:lnTo>
                <a:lnTo>
                  <a:pt x="768" y="0"/>
                </a:lnTo>
                <a:moveTo>
                  <a:pt x="4588" y="10000"/>
                </a:moveTo>
                <a:lnTo>
                  <a:pt x="4588" y="8756"/>
                </a:lnTo>
                <a:lnTo>
                  <a:pt x="9998" y="8756"/>
                </a:lnTo>
                <a:lnTo>
                  <a:pt x="9998" y="10000"/>
                </a:lnTo>
              </a:path>
            </a:pathLst>
          </a:custGeom>
          <a:solidFill>
            <a:srgbClr val="5B8CB8">
              <a:alpha val="100000"/>
            </a:srgbClr>
          </a:solidFill>
          <a:ln>
            <a:headEnd type="none"/>
            <a:tailEnd type="none"/>
          </a:ln>
        </p:spPr>
      </p:sp>
      <p:sp>
        <p:nvSpPr>
          <p:cNvPr id="19" name="TextBox 19"/>
          <p:cNvSpPr txBox="1"/>
          <p:nvPr/>
        </p:nvSpPr>
        <p:spPr>
          <a:xfrm>
            <a:off x="957618" y="4899421"/>
            <a:ext cx="1268443"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Alibaba PuHuiTi 3.0 55 Regular"/>
                <a:ea typeface="Alibaba PuHuiTi 3.0 55 Regular"/>
                <a:cs typeface="Alibaba PuHuiTi 3.0 55 Regular"/>
              </a:rPr>
              <a:t>CLI-Only Interface</a:t>
            </a:r>
            <a:endParaRPr lang="en-US" sz="1100"/>
          </a:p>
        </p:txBody>
      </p:sp>
      <p:sp>
        <p:nvSpPr>
          <p:cNvPr id="20" name="TextBox 20"/>
          <p:cNvSpPr txBox="1"/>
          <p:nvPr/>
        </p:nvSpPr>
        <p:spPr>
          <a:xfrm>
            <a:off x="695151" y="5289948"/>
            <a:ext cx="5304099" cy="57894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0000"/>
                  </a:srgbClr>
                </a:solidFill>
                <a:latin typeface="FZYaYiHei GB18030L2 R"/>
                <a:ea typeface="FZYaYiHei GB18030L2 R"/>
                <a:cs typeface="FZYaYiHei GB18030L2 R"/>
              </a:rPr>
              <a:t>System operates via command-line interface and Makefile automation without web-</a:t>
            </a:r>
            <a:endParaRPr lang="en-US" sz="1100"/>
          </a:p>
          <a:p>
            <a:pPr algn="l"/>
            <a:r>
              <a:rPr sz="1000" b="0" i="0" strike="noStrike">
                <a:ln/>
                <a:solidFill>
                  <a:srgbClr val="0A1F3D">
                    <a:alpha val="80000"/>
                  </a:srgbClr>
                </a:solidFill>
                <a:latin typeface="FZYaYiHei GB18030L2 R"/>
                <a:ea typeface="FZYaYiHei GB18030L2 R"/>
                <a:cs typeface="FZYaYiHei GB18030L2 R"/>
              </a:rPr>
              <a:t>based GUI or batch processing capabilities, restricting accessibility for non-technical</a:t>
            </a:r>
            <a:endParaRPr/>
          </a:p>
          <a:p>
            <a:pPr algn="l"/>
            <a:r>
              <a:rPr sz="1000" b="0" i="0" strike="noStrike">
                <a:ln/>
                <a:solidFill>
                  <a:srgbClr val="0A1F3D">
                    <a:alpha val="80000"/>
                  </a:srgbClr>
                </a:solidFill>
                <a:latin typeface="FZYaYiHei GB18030L2 R"/>
                <a:ea typeface="FZYaYiHei GB18030L2 R"/>
                <a:cs typeface="FZYaYiHei GB18030L2 R"/>
              </a:rPr>
              <a:t>users.</a:t>
            </a:r>
            <a:endParaRPr/>
          </a:p>
        </p:txBody>
      </p:sp>
      <p:sp>
        <p:nvSpPr>
          <p:cNvPr id="21" name="AutoShape 21"/>
          <p:cNvSpPr/>
          <p:nvPr/>
        </p:nvSpPr>
        <p:spPr>
          <a:xfrm>
            <a:off x="6189702" y="4661298"/>
            <a:ext cx="5542164" cy="1739504"/>
          </a:xfrm>
          <a:prstGeom prst="rect">
            <a:avLst/>
          </a:prstGeom>
          <a:solidFill>
            <a:srgbClr val="E8EBEF">
              <a:alpha val="100000"/>
            </a:srgbClr>
          </a:solidFill>
          <a:ln w="9525">
            <a:solidFill>
              <a:srgbClr val="C5CDD6">
                <a:alpha val="100000"/>
              </a:srgbClr>
            </a:solidFill>
            <a:prstDash val="solid"/>
            <a:headEnd type="none"/>
            <a:tailEnd type="none"/>
          </a:ln>
        </p:spPr>
      </p:sp>
      <p:sp>
        <p:nvSpPr>
          <p:cNvPr id="22" name="AutoShape 22"/>
          <p:cNvSpPr/>
          <p:nvPr/>
        </p:nvSpPr>
        <p:spPr>
          <a:xfrm>
            <a:off x="6189702" y="4661298"/>
            <a:ext cx="5542164" cy="9525"/>
          </a:xfrm>
          <a:prstGeom prst="line">
            <a:avLst/>
          </a:prstGeom>
          <a:ln w="28575">
            <a:solidFill>
              <a:srgbClr val="5B8CB8">
                <a:alpha val="100000"/>
              </a:srgbClr>
            </a:solidFill>
            <a:prstDash val="solid"/>
            <a:headEnd type="none"/>
            <a:tailEnd type="none"/>
          </a:ln>
        </p:spPr>
      </p:sp>
      <p:sp>
        <p:nvSpPr>
          <p:cNvPr id="23" name="AutoShape 23"/>
          <p:cNvSpPr/>
          <p:nvPr/>
        </p:nvSpPr>
        <p:spPr>
          <a:xfrm>
            <a:off x="6406639" y="4947048"/>
            <a:ext cx="190452" cy="190500"/>
          </a:xfrm>
          <a:custGeom>
            <a:avLst/>
            <a:gdLst/>
            <a:ahLst/>
            <a:cxnLst/>
            <a:rect l="l" t="t" r="r" b="b"/>
            <a:pathLst>
              <a:path w="9998" h="10000">
                <a:moveTo>
                  <a:pt x="0" y="10000"/>
                </a:moveTo>
                <a:lnTo>
                  <a:pt x="0" y="5556"/>
                </a:lnTo>
                <a:lnTo>
                  <a:pt x="2999" y="5556"/>
                </a:lnTo>
                <a:lnTo>
                  <a:pt x="2999" y="10000"/>
                </a:lnTo>
                <a:lnTo>
                  <a:pt x="0" y="10000"/>
                </a:lnTo>
                <a:moveTo>
                  <a:pt x="6999" y="10000"/>
                </a:moveTo>
                <a:lnTo>
                  <a:pt x="6999" y="2778"/>
                </a:lnTo>
                <a:lnTo>
                  <a:pt x="9998" y="2778"/>
                </a:lnTo>
                <a:lnTo>
                  <a:pt x="9998" y="10000"/>
                </a:lnTo>
                <a:lnTo>
                  <a:pt x="6999" y="10000"/>
                </a:lnTo>
                <a:moveTo>
                  <a:pt x="3499" y="10000"/>
                </a:moveTo>
                <a:lnTo>
                  <a:pt x="3499" y="0"/>
                </a:lnTo>
                <a:lnTo>
                  <a:pt x="6499" y="0"/>
                </a:lnTo>
                <a:lnTo>
                  <a:pt x="6499" y="10000"/>
                </a:lnTo>
                <a:lnTo>
                  <a:pt x="3499" y="10000"/>
                </a:lnTo>
                <a:moveTo>
                  <a:pt x="2000" y="6667"/>
                </a:moveTo>
                <a:lnTo>
                  <a:pt x="1000" y="6667"/>
                </a:lnTo>
                <a:lnTo>
                  <a:pt x="1000" y="8889"/>
                </a:lnTo>
                <a:lnTo>
                  <a:pt x="2000" y="8889"/>
                </a:lnTo>
                <a:lnTo>
                  <a:pt x="2000" y="6667"/>
                </a:lnTo>
                <a:moveTo>
                  <a:pt x="5499" y="1111"/>
                </a:moveTo>
                <a:lnTo>
                  <a:pt x="4499" y="1111"/>
                </a:lnTo>
                <a:lnTo>
                  <a:pt x="4499" y="8889"/>
                </a:lnTo>
                <a:lnTo>
                  <a:pt x="5499" y="8889"/>
                </a:lnTo>
                <a:lnTo>
                  <a:pt x="5499" y="1111"/>
                </a:lnTo>
                <a:moveTo>
                  <a:pt x="8998" y="3889"/>
                </a:moveTo>
                <a:lnTo>
                  <a:pt x="7998" y="3889"/>
                </a:lnTo>
                <a:lnTo>
                  <a:pt x="7998" y="8889"/>
                </a:lnTo>
                <a:lnTo>
                  <a:pt x="8998" y="8889"/>
                </a:lnTo>
              </a:path>
            </a:pathLst>
          </a:custGeom>
          <a:solidFill>
            <a:srgbClr val="5B8CB8">
              <a:alpha val="100000"/>
            </a:srgbClr>
          </a:solidFill>
          <a:ln>
            <a:headEnd type="none"/>
            <a:tailEnd type="none"/>
          </a:ln>
        </p:spPr>
      </p:sp>
      <p:sp>
        <p:nvSpPr>
          <p:cNvPr id="24" name="TextBox 24"/>
          <p:cNvSpPr txBox="1"/>
          <p:nvPr/>
        </p:nvSpPr>
        <p:spPr>
          <a:xfrm>
            <a:off x="6690234" y="4899421"/>
            <a:ext cx="1554121" cy="161925"/>
          </a:xfrm>
          <a:prstGeom prst="rect">
            <a:avLst/>
          </a:prstGeom>
          <a:ln>
            <a:headEnd type="none"/>
            <a:tailEnd type="none"/>
          </a:ln>
        </p:spPr>
        <p:txBody>
          <a:bodyPr vert="horz" wrap="square" lIns="0" tIns="0" rIns="0" bIns="0" rtlCol="0" anchor="t" anchorCtr="0"/>
          <a:lstStyle/>
          <a:p>
            <a:pPr algn="l">
              <a:defRPr/>
            </a:pPr>
            <a:r>
              <a:rPr lang="en-US" sz="1100" b="1" i="0" strike="noStrike">
                <a:ln/>
                <a:solidFill>
                  <a:srgbClr val="0A1F3D">
                    <a:alpha val="100000"/>
                  </a:srgbClr>
                </a:solidFill>
                <a:latin typeface="Alibaba PuHuiTi 3.0 55 Regular"/>
                <a:ea typeface="Alibaba PuHuiTi 3.0 55 Regular"/>
                <a:cs typeface="Alibaba PuHuiTi 3.0 55 Regular"/>
              </a:rPr>
              <a:t>Incomplete Evaluation</a:t>
            </a:r>
            <a:endParaRPr lang="en-US" sz="1100"/>
          </a:p>
        </p:txBody>
      </p:sp>
      <p:sp>
        <p:nvSpPr>
          <p:cNvPr id="25" name="TextBox 25"/>
          <p:cNvSpPr txBox="1"/>
          <p:nvPr/>
        </p:nvSpPr>
        <p:spPr>
          <a:xfrm>
            <a:off x="6427767" y="5289948"/>
            <a:ext cx="5304099" cy="578941"/>
          </a:xfrm>
          <a:prstGeom prst="rect">
            <a:avLst/>
          </a:prstGeom>
          <a:ln>
            <a:headEnd type="none"/>
            <a:tailEnd type="none"/>
          </a:ln>
        </p:spPr>
        <p:txBody>
          <a:bodyPr vert="horz" wrap="square" lIns="0" tIns="0" rIns="0" bIns="0" rtlCol="0" anchor="t" anchorCtr="0"/>
          <a:lstStyle/>
          <a:p>
            <a:pPr algn="l">
              <a:defRPr/>
            </a:pPr>
            <a:r>
              <a:rPr lang="en-US" sz="1000" b="0" i="0" strike="noStrike">
                <a:ln/>
                <a:solidFill>
                  <a:srgbClr val="0A1F3D">
                    <a:alpha val="80000"/>
                  </a:srgbClr>
                </a:solidFill>
                <a:latin typeface="FZYaYiHei GB18030L2 R"/>
                <a:ea typeface="FZYaYiHei GB18030L2 R"/>
                <a:cs typeface="FZYaYiHei GB18030L2 R"/>
              </a:rPr>
              <a:t>Large-scale quantitative evaluation remains incomplete: while pipeline functionality is</a:t>
            </a:r>
            <a:endParaRPr lang="en-US" sz="1100"/>
          </a:p>
          <a:p>
            <a:pPr algn="l"/>
            <a:r>
              <a:rPr sz="1000" b="0" i="0" strike="noStrike">
                <a:ln/>
                <a:solidFill>
                  <a:srgbClr val="0A1F3D">
                    <a:alpha val="80000"/>
                  </a:srgbClr>
                </a:solidFill>
                <a:latin typeface="FZYaYiHei GB18030L2 R"/>
                <a:ea typeface="FZYaYiHei GB18030L2 R"/>
                <a:cs typeface="FZYaYiHei GB18030L2 R"/>
              </a:rPr>
              <a:t>verified, Word Error Rate improvements and technical term accuracy metrics against</a:t>
            </a:r>
            <a:endParaRPr/>
          </a:p>
          <a:p>
            <a:pPr algn="l"/>
            <a:r>
              <a:rPr sz="1000" b="0" i="0" strike="noStrike">
                <a:ln/>
                <a:solidFill>
                  <a:srgbClr val="0A1F3D">
                    <a:alpha val="80000"/>
                  </a:srgbClr>
                </a:solidFill>
                <a:latin typeface="FZYaYiHei GB18030L2 R"/>
                <a:ea typeface="FZYaYiHei GB18030L2 R"/>
                <a:cs typeface="FZYaYiHei GB18030L2 R"/>
              </a:rPr>
              <a:t>ground truth are not yet systematically measured.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8001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Evaluation Framework</a:t>
            </a:r>
            <a:endParaRPr lang="en-US" sz="1100"/>
          </a:p>
        </p:txBody>
      </p:sp>
      <p:sp>
        <p:nvSpPr>
          <p:cNvPr id="5" name="TextBox 5"/>
          <p:cNvSpPr txBox="1"/>
          <p:nvPr/>
        </p:nvSpPr>
        <p:spPr>
          <a:xfrm>
            <a:off x="457086" y="1466850"/>
            <a:ext cx="11731866" cy="731341"/>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85098"/>
                  </a:srgbClr>
                </a:solidFill>
                <a:latin typeface="FZYaYiHei GB18030L2 R"/>
                <a:ea typeface="FZYaYiHei GB18030L2 R"/>
                <a:cs typeface="FZYaYiHei GB18030L2 R"/>
              </a:rPr>
              <a:t>The immediate priority is establishing rigorous quantitative evaluation using the existing ground truth transcripts. Beyond standard Word Error Rate</a:t>
            </a:r>
            <a:endParaRPr lang="en-US" sz="1100"/>
          </a:p>
          <a:p>
            <a:pPr algn="l"/>
            <a:r>
              <a:rPr sz="1200" b="0" i="0" strike="noStrike">
                <a:ln/>
                <a:solidFill>
                  <a:srgbClr val="0A1F3D">
                    <a:alpha val="85098"/>
                  </a:srgbClr>
                </a:solidFill>
                <a:latin typeface="FZYaYiHei GB18030L2 R"/>
                <a:ea typeface="FZYaYiHei GB18030L2 R"/>
                <a:cs typeface="FZYaYiHei GB18030L2 R"/>
              </a:rPr>
              <a:t>metrics, we will implement specialized technical term accuracy measurements to validate domain-specific improvements, and analyze the correlation</a:t>
            </a:r>
            <a:endParaRPr/>
          </a:p>
          <a:p>
            <a:pPr algn="l"/>
            <a:r>
              <a:rPr sz="1200" b="0" i="0" strike="noStrike">
                <a:ln/>
                <a:solidFill>
                  <a:srgbClr val="0A1F3D">
                    <a:alpha val="85098"/>
                  </a:srgbClr>
                </a:solidFill>
                <a:latin typeface="FZYaYiHei GB18030L2 R"/>
                <a:ea typeface="FZYaYiHei GB18030L2 R"/>
                <a:cs typeface="FZYaYiHei GB18030L2 R"/>
              </a:rPr>
              <a:t>between system-flagged low-confidence segments and actual error locations to verify the effectiveness of our targeted repair strategy.</a:t>
            </a:r>
            <a:endParaRPr/>
          </a:p>
        </p:txBody>
      </p:sp>
      <p:sp>
        <p:nvSpPr>
          <p:cNvPr id="6" name="AutoShape 6"/>
          <p:cNvSpPr/>
          <p:nvPr/>
        </p:nvSpPr>
        <p:spPr>
          <a:xfrm>
            <a:off x="457086" y="3414265"/>
            <a:ext cx="11274781" cy="9525"/>
          </a:xfrm>
          <a:prstGeom prst="line">
            <a:avLst/>
          </a:prstGeom>
          <a:ln w="9525">
            <a:solidFill>
              <a:srgbClr val="C5CDD6">
                <a:alpha val="100000"/>
              </a:srgbClr>
            </a:solidFill>
            <a:prstDash val="solid"/>
            <a:headEnd type="none"/>
            <a:tailEnd type="none"/>
          </a:ln>
        </p:spPr>
      </p:sp>
      <p:sp>
        <p:nvSpPr>
          <p:cNvPr id="7" name="AutoShape 7"/>
          <p:cNvSpPr/>
          <p:nvPr/>
        </p:nvSpPr>
        <p:spPr>
          <a:xfrm>
            <a:off x="457086" y="2730550"/>
            <a:ext cx="266633" cy="266700"/>
          </a:xfrm>
          <a:prstGeom prst="roundRect">
            <a:avLst>
              <a:gd name="adj" fmla="val 48992"/>
            </a:avLst>
          </a:prstGeom>
          <a:solidFill>
            <a:srgbClr val="5B8CB8">
              <a:alpha val="100000"/>
            </a:srgbClr>
          </a:solidFill>
          <a:ln>
            <a:headEnd type="none"/>
            <a:tailEnd type="none"/>
          </a:ln>
        </p:spPr>
      </p:sp>
      <p:sp>
        <p:nvSpPr>
          <p:cNvPr id="8" name="TextBox 8"/>
          <p:cNvSpPr txBox="1"/>
          <p:nvPr/>
        </p:nvSpPr>
        <p:spPr>
          <a:xfrm>
            <a:off x="553204" y="2782937"/>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1</a:t>
            </a:r>
            <a:endParaRPr lang="en-US" sz="1100"/>
          </a:p>
        </p:txBody>
      </p:sp>
      <p:sp>
        <p:nvSpPr>
          <p:cNvPr id="9" name="TextBox 9"/>
          <p:cNvSpPr txBox="1"/>
          <p:nvPr/>
        </p:nvSpPr>
        <p:spPr>
          <a:xfrm>
            <a:off x="876080" y="2749600"/>
            <a:ext cx="10855785" cy="456159"/>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Implement automated Word Error Rate calculation comparing baseline WhisperX output against repaired transcripts using manual reference as ground</a:t>
            </a:r>
            <a:endParaRPr lang="en-US" sz="1100"/>
          </a:p>
          <a:p>
            <a:pPr algn="l"/>
            <a:r>
              <a:rPr sz="1200" b="0" i="0" strike="noStrike">
                <a:ln/>
                <a:solidFill>
                  <a:srgbClr val="0A1F3D">
                    <a:alpha val="90196"/>
                  </a:srgbClr>
                </a:solidFill>
                <a:latin typeface="FZYaYiHei GB18030L2 R"/>
                <a:ea typeface="FZYaYiHei GB18030L2 R"/>
                <a:cs typeface="FZYaYiHei GB18030L2 R"/>
              </a:rPr>
              <a:t>truth</a:t>
            </a:r>
            <a:endParaRPr/>
          </a:p>
        </p:txBody>
      </p:sp>
      <p:sp>
        <p:nvSpPr>
          <p:cNvPr id="10" name="AutoShape 10"/>
          <p:cNvSpPr/>
          <p:nvPr/>
        </p:nvSpPr>
        <p:spPr>
          <a:xfrm>
            <a:off x="457086" y="4469458"/>
            <a:ext cx="11274781" cy="9525"/>
          </a:xfrm>
          <a:prstGeom prst="line">
            <a:avLst/>
          </a:prstGeom>
          <a:ln w="9525">
            <a:solidFill>
              <a:srgbClr val="C5CDD6">
                <a:alpha val="100000"/>
              </a:srgbClr>
            </a:solidFill>
            <a:prstDash val="solid"/>
            <a:headEnd type="none"/>
            <a:tailEnd type="none"/>
          </a:ln>
        </p:spPr>
      </p:sp>
      <p:sp>
        <p:nvSpPr>
          <p:cNvPr id="11" name="AutoShape 11"/>
          <p:cNvSpPr/>
          <p:nvPr/>
        </p:nvSpPr>
        <p:spPr>
          <a:xfrm>
            <a:off x="457086" y="3785740"/>
            <a:ext cx="266633" cy="266700"/>
          </a:xfrm>
          <a:prstGeom prst="roundRect">
            <a:avLst>
              <a:gd name="adj" fmla="val 48992"/>
            </a:avLst>
          </a:prstGeom>
          <a:solidFill>
            <a:srgbClr val="5B8CB8">
              <a:alpha val="100000"/>
            </a:srgbClr>
          </a:solidFill>
          <a:ln>
            <a:headEnd type="none"/>
            <a:tailEnd type="none"/>
          </a:ln>
        </p:spPr>
      </p:sp>
      <p:sp>
        <p:nvSpPr>
          <p:cNvPr id="12" name="TextBox 12"/>
          <p:cNvSpPr txBox="1"/>
          <p:nvPr/>
        </p:nvSpPr>
        <p:spPr>
          <a:xfrm>
            <a:off x="553204" y="3838128"/>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2</a:t>
            </a:r>
            <a:endParaRPr lang="en-US" sz="1100"/>
          </a:p>
        </p:txBody>
      </p:sp>
      <p:sp>
        <p:nvSpPr>
          <p:cNvPr id="13" name="TextBox 13"/>
          <p:cNvSpPr txBox="1"/>
          <p:nvPr/>
        </p:nvSpPr>
        <p:spPr>
          <a:xfrm>
            <a:off x="876080" y="3804790"/>
            <a:ext cx="10855785" cy="456159"/>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Develop specialized technical term accuracy metrics focusing on domain-specific vocabulary, named entities, and specialized terminology where ASR</a:t>
            </a:r>
            <a:endParaRPr lang="en-US" sz="1100"/>
          </a:p>
          <a:p>
            <a:pPr algn="l"/>
            <a:r>
              <a:rPr sz="1200" b="0" i="0" strike="noStrike">
                <a:ln/>
                <a:solidFill>
                  <a:srgbClr val="0A1F3D">
                    <a:alpha val="90196"/>
                  </a:srgbClr>
                </a:solidFill>
                <a:latin typeface="FZYaYiHei GB18030L2 R"/>
                <a:ea typeface="FZYaYiHei GB18030L2 R"/>
                <a:cs typeface="FZYaYiHei GB18030L2 R"/>
              </a:rPr>
              <a:t>typically underperforms</a:t>
            </a:r>
            <a:endParaRPr/>
          </a:p>
        </p:txBody>
      </p:sp>
      <p:sp>
        <p:nvSpPr>
          <p:cNvPr id="14" name="AutoShape 14"/>
          <p:cNvSpPr/>
          <p:nvPr/>
        </p:nvSpPr>
        <p:spPr>
          <a:xfrm>
            <a:off x="457086" y="5524649"/>
            <a:ext cx="11274781" cy="9525"/>
          </a:xfrm>
          <a:prstGeom prst="line">
            <a:avLst/>
          </a:prstGeom>
          <a:ln w="9525">
            <a:solidFill>
              <a:srgbClr val="C5CDD6">
                <a:alpha val="100000"/>
              </a:srgbClr>
            </a:solidFill>
            <a:prstDash val="solid"/>
            <a:headEnd type="none"/>
            <a:tailEnd type="none"/>
          </a:ln>
        </p:spPr>
      </p:sp>
      <p:sp>
        <p:nvSpPr>
          <p:cNvPr id="15" name="AutoShape 15"/>
          <p:cNvSpPr/>
          <p:nvPr/>
        </p:nvSpPr>
        <p:spPr>
          <a:xfrm>
            <a:off x="457086" y="4840933"/>
            <a:ext cx="266633" cy="266700"/>
          </a:xfrm>
          <a:prstGeom prst="roundRect">
            <a:avLst>
              <a:gd name="adj" fmla="val 48992"/>
            </a:avLst>
          </a:prstGeom>
          <a:solidFill>
            <a:srgbClr val="5B8CB8">
              <a:alpha val="100000"/>
            </a:srgbClr>
          </a:solidFill>
          <a:ln>
            <a:headEnd type="none"/>
            <a:tailEnd type="none"/>
          </a:ln>
        </p:spPr>
      </p:sp>
      <p:sp>
        <p:nvSpPr>
          <p:cNvPr id="16" name="TextBox 16"/>
          <p:cNvSpPr txBox="1"/>
          <p:nvPr/>
        </p:nvSpPr>
        <p:spPr>
          <a:xfrm>
            <a:off x="553204" y="4893320"/>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3</a:t>
            </a:r>
            <a:endParaRPr lang="en-US" sz="1100"/>
          </a:p>
        </p:txBody>
      </p:sp>
      <p:sp>
        <p:nvSpPr>
          <p:cNvPr id="17" name="TextBox 17"/>
          <p:cNvSpPr txBox="1"/>
          <p:nvPr/>
        </p:nvSpPr>
        <p:spPr>
          <a:xfrm>
            <a:off x="876080" y="4859983"/>
            <a:ext cx="10855785" cy="456159"/>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Analyze precision and recall of error detection: validate whether segments flagged by low ASR confidence and visual evidence actually contain higher</a:t>
            </a:r>
            <a:endParaRPr lang="en-US" sz="1100"/>
          </a:p>
          <a:p>
            <a:pPr algn="l"/>
            <a:r>
              <a:rPr sz="1200" b="0" i="0" strike="noStrike">
                <a:ln/>
                <a:solidFill>
                  <a:srgbClr val="0A1F3D">
                    <a:alpha val="90196"/>
                  </a:srgbClr>
                </a:solidFill>
                <a:latin typeface="FZYaYiHei GB18030L2 R"/>
                <a:ea typeface="FZYaYiHei GB18030L2 R"/>
                <a:cs typeface="FZYaYiHei GB18030L2 R"/>
              </a:rPr>
              <a:t>error rates than unflagged segments</a:t>
            </a:r>
            <a:endParaRPr/>
          </a:p>
        </p:txBody>
      </p:sp>
      <p:sp>
        <p:nvSpPr>
          <p:cNvPr id="18" name="AutoShape 18"/>
          <p:cNvSpPr/>
          <p:nvPr/>
        </p:nvSpPr>
        <p:spPr>
          <a:xfrm>
            <a:off x="457086" y="5896124"/>
            <a:ext cx="266633" cy="266700"/>
          </a:xfrm>
          <a:prstGeom prst="roundRect">
            <a:avLst>
              <a:gd name="adj" fmla="val 48992"/>
            </a:avLst>
          </a:prstGeom>
          <a:solidFill>
            <a:srgbClr val="5B8CB8">
              <a:alpha val="100000"/>
            </a:srgbClr>
          </a:solidFill>
          <a:ln>
            <a:headEnd type="none"/>
            <a:tailEnd type="none"/>
          </a:ln>
        </p:spPr>
      </p:sp>
      <p:sp>
        <p:nvSpPr>
          <p:cNvPr id="19" name="TextBox 19"/>
          <p:cNvSpPr txBox="1"/>
          <p:nvPr/>
        </p:nvSpPr>
        <p:spPr>
          <a:xfrm>
            <a:off x="553204" y="5948511"/>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4</a:t>
            </a:r>
            <a:endParaRPr lang="en-US" sz="1100"/>
          </a:p>
        </p:txBody>
      </p:sp>
      <p:sp>
        <p:nvSpPr>
          <p:cNvPr id="20" name="TextBox 20"/>
          <p:cNvSpPr txBox="1"/>
          <p:nvPr/>
        </p:nvSpPr>
        <p:spPr>
          <a:xfrm>
            <a:off x="876080" y="5915174"/>
            <a:ext cx="10855785" cy="180975"/>
          </a:xfrm>
          <a:prstGeom prst="rect">
            <a:avLst/>
          </a:prstGeom>
          <a:ln>
            <a:headEnd type="none"/>
            <a:tailEnd type="none"/>
          </a:ln>
        </p:spPr>
        <p:txBody>
          <a:bodyPr vert="horz" wrap="square" lIns="0" tIns="0" rIns="0" bIns="0" rtlCol="0" anchor="t" anchorCtr="0"/>
          <a:lstStyle/>
          <a:p>
            <a:pPr algn="l">
              <a:defRPr/>
            </a:pPr>
            <a:r>
              <a:rPr lang="en-US" sz="1200" b="0" i="0" strike="noStrike">
                <a:ln/>
                <a:solidFill>
                  <a:srgbClr val="0A1F3D">
                    <a:alpha val="90196"/>
                  </a:srgbClr>
                </a:solidFill>
                <a:latin typeface="FZYaYiHei GB18030L2 R"/>
                <a:ea typeface="FZYaYiHei GB18030L2 R"/>
                <a:cs typeface="FZYaYiHei GB18030L2 R"/>
              </a:rPr>
              <a:t>Create visualization tools for error analysis including confusion matrices and segment-level comparison views to identify systematic failure patterns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txBody>
          <a:bodyPr/>
          <a:lstStyle/>
          <a:p>
            <a:endParaRPr lang="zh-CN" altLang="en-US" dirty="0"/>
          </a:p>
        </p:txBody>
      </p:sp>
      <p:sp>
        <p:nvSpPr>
          <p:cNvPr id="4" name="TextBox 4"/>
          <p:cNvSpPr txBox="1"/>
          <p:nvPr/>
        </p:nvSpPr>
        <p:spPr>
          <a:xfrm>
            <a:off x="457086" y="8001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Enhanced Retrieval &amp; Evidence</a:t>
            </a:r>
            <a:endParaRPr lang="en-US" sz="1100"/>
          </a:p>
        </p:txBody>
      </p:sp>
      <p:sp>
        <p:nvSpPr>
          <p:cNvPr id="5" name="TextBox 5"/>
          <p:cNvSpPr txBox="1"/>
          <p:nvPr/>
        </p:nvSpPr>
        <p:spPr>
          <a:xfrm>
            <a:off x="457086" y="1514475"/>
            <a:ext cx="11731866" cy="1064716"/>
          </a:xfrm>
          <a:prstGeom prst="rect">
            <a:avLst/>
          </a:prstGeom>
          <a:ln>
            <a:headEnd type="none"/>
            <a:tailEnd type="none"/>
          </a:ln>
        </p:spPr>
        <p:txBody>
          <a:bodyPr vert="horz" wrap="square" lIns="0" tIns="0" rIns="0" bIns="0" rtlCol="0" anchor="t" anchorCtr="0"/>
          <a:lstStyle/>
          <a:p>
            <a:pPr algn="l">
              <a:defRPr/>
            </a:pPr>
            <a:r>
              <a:rPr lang="en-US" sz="1300" b="0" i="0" strike="noStrike">
                <a:ln/>
                <a:solidFill>
                  <a:srgbClr val="0A1F3D">
                    <a:alpha val="85098"/>
                  </a:srgbClr>
                </a:solidFill>
                <a:latin typeface="FZYaYiHei GB18030L2 R"/>
                <a:ea typeface="FZYaYiHei GB18030L2 R"/>
                <a:cs typeface="FZYaYiHei GB18030L2 R"/>
              </a:rPr>
              <a:t>The retrieval layer will evolve from simple fuzzy matching to embedding-based vector search infrastructure, incorporating expanded knowledge</a:t>
            </a:r>
            <a:endParaRPr lang="en-US" sz="1100"/>
          </a:p>
          <a:p>
            <a:pPr algn="l"/>
            <a:r>
              <a:rPr sz="1300" b="0" i="0" strike="noStrike">
                <a:ln/>
                <a:solidFill>
                  <a:srgbClr val="0A1F3D">
                    <a:alpha val="85098"/>
                  </a:srgbClr>
                </a:solidFill>
                <a:latin typeface="FZYaYiHei GB18030L2 R"/>
                <a:ea typeface="FZYaYiHei GB18030L2 R"/>
                <a:cs typeface="FZYaYiHei GB18030L2 R"/>
              </a:rPr>
              <a:t>sources including speaker profiles, topic summaries, and slide OCR text. Critically, we will implement evidence strength scoring and confidence</a:t>
            </a:r>
            <a:endParaRPr/>
          </a:p>
          <a:p>
            <a:pPr algn="l"/>
            <a:r>
              <a:rPr sz="1300" b="0" i="0" strike="noStrike">
                <a:ln/>
                <a:solidFill>
                  <a:srgbClr val="0A1F3D">
                    <a:alpha val="85098"/>
                  </a:srgbClr>
                </a:solidFill>
                <a:latin typeface="FZYaYiHei GB18030L2 R"/>
                <a:ea typeface="FZYaYiHei GB18030L2 R"/>
                <a:cs typeface="FZYaYiHei GB18030L2 R"/>
              </a:rPr>
              <a:t>thresholds to prevent over-correction, ensuring repairs only apply when visual and glossary evidence strongly contradict low-confidence ASR</a:t>
            </a:r>
            <a:endParaRPr/>
          </a:p>
          <a:p>
            <a:pPr algn="l"/>
            <a:r>
              <a:rPr sz="1300" b="0" i="0" strike="noStrike">
                <a:ln/>
                <a:solidFill>
                  <a:srgbClr val="0A1F3D">
                    <a:alpha val="85098"/>
                  </a:srgbClr>
                </a:solidFill>
                <a:latin typeface="FZYaYiHei GB18030L2 R"/>
                <a:ea typeface="FZYaYiHei GB18030L2 R"/>
                <a:cs typeface="FZYaYiHei GB18030L2 R"/>
              </a:rPr>
              <a:t>hypotheses.</a:t>
            </a:r>
            <a:endParaRPr/>
          </a:p>
        </p:txBody>
      </p:sp>
      <p:sp>
        <p:nvSpPr>
          <p:cNvPr id="6" name="AutoShape 6"/>
          <p:cNvSpPr/>
          <p:nvPr/>
        </p:nvSpPr>
        <p:spPr>
          <a:xfrm>
            <a:off x="457086" y="2937271"/>
            <a:ext cx="266633" cy="266700"/>
          </a:xfrm>
          <a:prstGeom prst="rect">
            <a:avLst/>
          </a:prstGeom>
          <a:solidFill>
            <a:srgbClr val="5B8CB8">
              <a:alpha val="100000"/>
            </a:srgbClr>
          </a:solidFill>
          <a:ln>
            <a:headEnd type="none"/>
            <a:tailEnd type="none"/>
          </a:ln>
        </p:spPr>
      </p:sp>
      <p:sp>
        <p:nvSpPr>
          <p:cNvPr id="7" name="TextBox 7"/>
          <p:cNvSpPr txBox="1"/>
          <p:nvPr/>
        </p:nvSpPr>
        <p:spPr>
          <a:xfrm>
            <a:off x="553204" y="2989660"/>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1</a:t>
            </a:r>
            <a:endParaRPr lang="en-US" sz="1100"/>
          </a:p>
        </p:txBody>
      </p:sp>
      <p:sp>
        <p:nvSpPr>
          <p:cNvPr id="8" name="TextBox 8"/>
          <p:cNvSpPr txBox="1"/>
          <p:nvPr/>
        </p:nvSpPr>
        <p:spPr>
          <a:xfrm>
            <a:off x="876080" y="2975373"/>
            <a:ext cx="11312870" cy="456159"/>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Vector Database Migration:</a:t>
            </a:r>
            <a:r>
              <a:rPr sz="1200" b="0" i="0" strike="noStrike">
                <a:ln/>
                <a:solidFill>
                  <a:srgbClr val="0A1F3D">
                    <a:alpha val="85098"/>
                  </a:srgbClr>
                </a:solidFill>
                <a:latin typeface="FZYaYiHei GB18030L2 R"/>
                <a:ea typeface="FZYaYiHei GB18030L2 R"/>
                <a:cs typeface="FZYaYiHei GB18030L2 R"/>
              </a:rPr>
              <a:t> Migrate from JSON-based fuzzy matching to production vector database (ChromaDB/Weaviate) with embedding-based</a:t>
            </a:r>
            <a:endParaRPr lang="en-US" sz="1100"/>
          </a:p>
          <a:p>
            <a:pPr algn="l"/>
            <a:r>
              <a:rPr sz="1200" b="0" i="0" strike="noStrike">
                <a:ln/>
                <a:solidFill>
                  <a:srgbClr val="0A1F3D">
                    <a:alpha val="85098"/>
                  </a:srgbClr>
                </a:solidFill>
                <a:latin typeface="FZYaYiHei GB18030L2 R"/>
                <a:ea typeface="FZYaYiHei GB18030L2 R"/>
                <a:cs typeface="FZYaYiHei GB18030L2 R"/>
              </a:rPr>
              <a:t>semantic retrieval enabling concept-level matching beyond string similarity.</a:t>
            </a:r>
            <a:endParaRPr/>
          </a:p>
        </p:txBody>
      </p:sp>
      <p:sp>
        <p:nvSpPr>
          <p:cNvPr id="9" name="AutoShape 9"/>
          <p:cNvSpPr/>
          <p:nvPr/>
        </p:nvSpPr>
        <p:spPr>
          <a:xfrm>
            <a:off x="457086" y="3678138"/>
            <a:ext cx="266633" cy="266700"/>
          </a:xfrm>
          <a:prstGeom prst="rect">
            <a:avLst/>
          </a:prstGeom>
          <a:solidFill>
            <a:srgbClr val="5B8CB8">
              <a:alpha val="100000"/>
            </a:srgbClr>
          </a:solidFill>
          <a:ln>
            <a:headEnd type="none"/>
            <a:tailEnd type="none"/>
          </a:ln>
        </p:spPr>
      </p:sp>
      <p:sp>
        <p:nvSpPr>
          <p:cNvPr id="10" name="TextBox 10"/>
          <p:cNvSpPr txBox="1"/>
          <p:nvPr/>
        </p:nvSpPr>
        <p:spPr>
          <a:xfrm>
            <a:off x="553204" y="3730526"/>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2</a:t>
            </a:r>
            <a:endParaRPr lang="en-US" sz="1100"/>
          </a:p>
        </p:txBody>
      </p:sp>
      <p:sp>
        <p:nvSpPr>
          <p:cNvPr id="11" name="TextBox 11"/>
          <p:cNvSpPr txBox="1"/>
          <p:nvPr/>
        </p:nvSpPr>
        <p:spPr>
          <a:xfrm>
            <a:off x="876080" y="3716238"/>
            <a:ext cx="11312870" cy="456159"/>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Knowledge Base Expansion:</a:t>
            </a:r>
            <a:r>
              <a:rPr sz="1200" b="0" i="0" strike="noStrike">
                <a:ln/>
                <a:solidFill>
                  <a:srgbClr val="0A1F3D">
                    <a:alpha val="85098"/>
                  </a:srgbClr>
                </a:solidFill>
                <a:latin typeface="FZYaYiHei GB18030L2 R"/>
                <a:ea typeface="FZYaYiHei GB18030L2 R"/>
                <a:cs typeface="FZYaYiHei GB18030L2 R"/>
              </a:rPr>
              <a:t> Expand knowledge base beyond technical glossaries to include speaker biographical information, talk topic summaries,</a:t>
            </a:r>
            <a:endParaRPr lang="en-US" sz="1100"/>
          </a:p>
          <a:p>
            <a:pPr algn="l"/>
            <a:r>
              <a:rPr sz="1200" b="0" i="0" strike="noStrike">
                <a:ln/>
                <a:solidFill>
                  <a:srgbClr val="0A1F3D">
                    <a:alpha val="85098"/>
                  </a:srgbClr>
                </a:solidFill>
                <a:latin typeface="FZYaYiHei GB18030L2 R"/>
                <a:ea typeface="FZYaYiHei GB18030L2 R"/>
                <a:cs typeface="FZYaYiHei GB18030L2 R"/>
              </a:rPr>
              <a:t>and OCR-extracted text from presentation slides.</a:t>
            </a:r>
            <a:endParaRPr/>
          </a:p>
        </p:txBody>
      </p:sp>
      <p:sp>
        <p:nvSpPr>
          <p:cNvPr id="12" name="AutoShape 12"/>
          <p:cNvSpPr/>
          <p:nvPr/>
        </p:nvSpPr>
        <p:spPr>
          <a:xfrm>
            <a:off x="457086" y="4419004"/>
            <a:ext cx="266633" cy="266700"/>
          </a:xfrm>
          <a:prstGeom prst="rect">
            <a:avLst/>
          </a:prstGeom>
          <a:solidFill>
            <a:srgbClr val="5B8CB8">
              <a:alpha val="100000"/>
            </a:srgbClr>
          </a:solidFill>
          <a:ln>
            <a:headEnd type="none"/>
            <a:tailEnd type="none"/>
          </a:ln>
        </p:spPr>
      </p:sp>
      <p:sp>
        <p:nvSpPr>
          <p:cNvPr id="13" name="TextBox 13"/>
          <p:cNvSpPr txBox="1"/>
          <p:nvPr/>
        </p:nvSpPr>
        <p:spPr>
          <a:xfrm>
            <a:off x="553204" y="4471392"/>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3</a:t>
            </a:r>
            <a:endParaRPr lang="en-US" sz="1100"/>
          </a:p>
        </p:txBody>
      </p:sp>
      <p:sp>
        <p:nvSpPr>
          <p:cNvPr id="14" name="TextBox 14"/>
          <p:cNvSpPr txBox="1"/>
          <p:nvPr/>
        </p:nvSpPr>
        <p:spPr>
          <a:xfrm>
            <a:off x="876080" y="4457104"/>
            <a:ext cx="11312870" cy="456159"/>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Evidence Strength Scoring:</a:t>
            </a:r>
            <a:r>
              <a:rPr sz="1200" b="0" i="0" strike="noStrike">
                <a:ln/>
                <a:solidFill>
                  <a:srgbClr val="0A1F3D">
                    <a:alpha val="85098"/>
                  </a:srgbClr>
                </a:solidFill>
                <a:latin typeface="FZYaYiHei GB18030L2 R"/>
                <a:ea typeface="FZYaYiHei GB18030L2 R"/>
                <a:cs typeface="FZYaYiHei GB18030L2 R"/>
              </a:rPr>
              <a:t> Implement evidence strength scoring mechanisms that weight visual confidence, retrieval match scores, and ASR</a:t>
            </a:r>
            <a:endParaRPr lang="en-US" sz="1100"/>
          </a:p>
          <a:p>
            <a:pPr algn="l"/>
            <a:r>
              <a:rPr sz="1200" b="0" i="0" strike="noStrike">
                <a:ln/>
                <a:solidFill>
                  <a:srgbClr val="0A1F3D">
                    <a:alpha val="85098"/>
                  </a:srgbClr>
                </a:solidFill>
                <a:latin typeface="FZYaYiHei GB18030L2 R"/>
                <a:ea typeface="FZYaYiHei GB18030L2 R"/>
                <a:cs typeface="FZYaYiHei GB18030L2 R"/>
              </a:rPr>
              <a:t>uncertainty to prevent aggressive over-correction of correct transcripts.</a:t>
            </a:r>
            <a:endParaRPr/>
          </a:p>
        </p:txBody>
      </p:sp>
      <p:sp>
        <p:nvSpPr>
          <p:cNvPr id="15" name="AutoShape 15"/>
          <p:cNvSpPr/>
          <p:nvPr/>
        </p:nvSpPr>
        <p:spPr>
          <a:xfrm>
            <a:off x="457086" y="5159872"/>
            <a:ext cx="266633" cy="266700"/>
          </a:xfrm>
          <a:prstGeom prst="rect">
            <a:avLst/>
          </a:prstGeom>
          <a:solidFill>
            <a:srgbClr val="5B8CB8">
              <a:alpha val="100000"/>
            </a:srgbClr>
          </a:solidFill>
          <a:ln>
            <a:headEnd type="none"/>
            <a:tailEnd type="none"/>
          </a:ln>
        </p:spPr>
      </p:sp>
      <p:sp>
        <p:nvSpPr>
          <p:cNvPr id="16" name="TextBox 16"/>
          <p:cNvSpPr txBox="1"/>
          <p:nvPr/>
        </p:nvSpPr>
        <p:spPr>
          <a:xfrm>
            <a:off x="553204" y="5212259"/>
            <a:ext cx="170514" cy="152400"/>
          </a:xfrm>
          <a:prstGeom prst="rect">
            <a:avLst/>
          </a:prstGeom>
          <a:ln>
            <a:headEnd type="none"/>
            <a:tailEnd type="none"/>
          </a:ln>
        </p:spPr>
        <p:txBody>
          <a:bodyPr vert="horz" wrap="none" lIns="0" tIns="0" rIns="0" bIns="0" rtlCol="0" anchor="ctr" anchorCtr="0"/>
          <a:lstStyle/>
          <a:p>
            <a:pPr algn="l">
              <a:defRPr/>
            </a:pPr>
            <a:r>
              <a:rPr lang="en-US" sz="1000" b="1" i="0" strike="noStrike">
                <a:ln/>
                <a:solidFill>
                  <a:srgbClr val="F1F3F5">
                    <a:alpha val="100000"/>
                  </a:srgbClr>
                </a:solidFill>
                <a:latin typeface="Inter"/>
                <a:ea typeface="Inter"/>
                <a:cs typeface="Inter"/>
              </a:rPr>
              <a:t>4</a:t>
            </a:r>
            <a:endParaRPr lang="en-US" sz="1100"/>
          </a:p>
        </p:txBody>
      </p:sp>
      <p:sp>
        <p:nvSpPr>
          <p:cNvPr id="17" name="TextBox 17"/>
          <p:cNvSpPr txBox="1"/>
          <p:nvPr/>
        </p:nvSpPr>
        <p:spPr>
          <a:xfrm>
            <a:off x="876080" y="5197972"/>
            <a:ext cx="11312870" cy="456159"/>
          </a:xfrm>
          <a:prstGeom prst="rect">
            <a:avLst/>
          </a:prstGeom>
          <a:ln>
            <a:headEnd type="none"/>
            <a:tailEnd type="none"/>
          </a:ln>
        </p:spPr>
        <p:txBody>
          <a:bodyPr vert="horz" wrap="square" lIns="0" tIns="0" rIns="0" bIns="0" rtlCol="0" anchor="t" anchorCtr="0"/>
          <a:lstStyle/>
          <a:p>
            <a:pPr algn="l">
              <a:defRPr/>
            </a:pPr>
            <a:r>
              <a:rPr lang="en-US" sz="1200" b="1" i="0" strike="noStrike">
                <a:ln/>
                <a:solidFill>
                  <a:srgbClr val="0A1F3D">
                    <a:alpha val="85098"/>
                  </a:srgbClr>
                </a:solidFill>
                <a:latin typeface="FZYaYiHei GB18030L2 R"/>
                <a:ea typeface="FZYaYiHei GB18030L2 R"/>
                <a:cs typeface="FZYaYiHei GB18030L2 R"/>
              </a:rPr>
              <a:t>Conflict Resolution Rules:</a:t>
            </a:r>
            <a:r>
              <a:rPr sz="1200" b="0" i="0" strike="noStrike">
                <a:ln/>
                <a:solidFill>
                  <a:srgbClr val="0A1F3D">
                    <a:alpha val="85098"/>
                  </a:srgbClr>
                </a:solidFill>
                <a:latin typeface="FZYaYiHei GB18030L2 R"/>
                <a:ea typeface="FZYaYiHei GB18030L2 R"/>
                <a:cs typeface="FZYaYiHei GB18030L2 R"/>
              </a:rPr>
              <a:t> Develop conflict resolution rules for contradictory evidence sources, establishing priority hierarchies when visual text,</a:t>
            </a:r>
            <a:endParaRPr lang="en-US" sz="1100"/>
          </a:p>
          <a:p>
            <a:pPr algn="l"/>
            <a:r>
              <a:rPr sz="1200" b="0" i="0" strike="noStrike">
                <a:ln/>
                <a:solidFill>
                  <a:srgbClr val="0A1F3D">
                    <a:alpha val="85098"/>
                  </a:srgbClr>
                </a:solidFill>
                <a:latin typeface="FZYaYiHei GB18030L2 R"/>
                <a:ea typeface="FZYaYiHei GB18030L2 R"/>
                <a:cs typeface="FZYaYiHei GB18030L2 R"/>
              </a:rPr>
              <a:t>glossary entries, and ASR hypotheses disagree.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88952" cy="6858000"/>
          </a:xfrm>
          <a:prstGeom prst="rect">
            <a:avLst/>
          </a:prstGeom>
          <a:solidFill>
            <a:srgbClr val="F1F3F5">
              <a:alpha val="100000"/>
            </a:srgbClr>
          </a:solidFill>
          <a:ln>
            <a:headEnd type="none"/>
            <a:tailEnd type="none"/>
          </a:ln>
        </p:spPr>
      </p:sp>
      <p:sp>
        <p:nvSpPr>
          <p:cNvPr id="4" name="TextBox 4"/>
          <p:cNvSpPr txBox="1"/>
          <p:nvPr/>
        </p:nvSpPr>
        <p:spPr>
          <a:xfrm>
            <a:off x="457086" y="723900"/>
            <a:ext cx="11274781" cy="419100"/>
          </a:xfrm>
          <a:prstGeom prst="rect">
            <a:avLst/>
          </a:prstGeom>
          <a:ln>
            <a:headEnd type="none"/>
            <a:tailEnd type="none"/>
          </a:ln>
        </p:spPr>
        <p:txBody>
          <a:bodyPr vert="horz" wrap="square" lIns="0" tIns="0" rIns="0" bIns="0" rtlCol="0" anchor="t" anchorCtr="0"/>
          <a:lstStyle/>
          <a:p>
            <a:pPr algn="l">
              <a:defRPr/>
            </a:pPr>
            <a:r>
              <a:rPr lang="en-US" sz="3000" b="1" i="0" strike="noStrike">
                <a:ln/>
                <a:solidFill>
                  <a:srgbClr val="0A1F3D">
                    <a:alpha val="100000"/>
                  </a:srgbClr>
                </a:solidFill>
                <a:latin typeface="Alibaba PuHuiTi 3.0 55 Regular"/>
                <a:ea typeface="Alibaba PuHuiTi 3.0 55 Regular"/>
                <a:cs typeface="Alibaba PuHuiTi 3.0 55 Regular"/>
              </a:rPr>
              <a:t>Future Work: Engineering &amp; Architecture</a:t>
            </a:r>
            <a:endParaRPr lang="en-US" sz="1100"/>
          </a:p>
        </p:txBody>
      </p:sp>
      <p:sp>
        <p:nvSpPr>
          <p:cNvPr id="5" name="AutoShape 5"/>
          <p:cNvSpPr/>
          <p:nvPr/>
        </p:nvSpPr>
        <p:spPr>
          <a:xfrm>
            <a:off x="457086" y="1352550"/>
            <a:ext cx="11274781" cy="1130350"/>
          </a:xfrm>
          <a:prstGeom prst="rect">
            <a:avLst/>
          </a:prstGeom>
          <a:solidFill>
            <a:srgbClr val="E8EBEF">
              <a:alpha val="100000"/>
            </a:srgbClr>
          </a:solidFill>
          <a:ln>
            <a:headEnd type="none"/>
            <a:tailEnd type="none"/>
          </a:ln>
        </p:spPr>
      </p:sp>
      <p:sp>
        <p:nvSpPr>
          <p:cNvPr id="6" name="AutoShape 6"/>
          <p:cNvSpPr/>
          <p:nvPr/>
        </p:nvSpPr>
        <p:spPr>
          <a:xfrm>
            <a:off x="457086" y="1352550"/>
            <a:ext cx="9522" cy="1130350"/>
          </a:xfrm>
          <a:prstGeom prst="line">
            <a:avLst/>
          </a:prstGeom>
          <a:ln w="28575">
            <a:solidFill>
              <a:srgbClr val="5B8CB8">
                <a:alpha val="100000"/>
              </a:srgbClr>
            </a:solidFill>
            <a:prstDash val="solid"/>
            <a:headEnd type="none"/>
            <a:tailEnd type="none"/>
          </a:ln>
        </p:spPr>
      </p:sp>
      <p:sp>
        <p:nvSpPr>
          <p:cNvPr id="7" name="TextBox 7"/>
          <p:cNvSpPr txBox="1"/>
          <p:nvPr/>
        </p:nvSpPr>
        <p:spPr>
          <a:xfrm>
            <a:off x="714196" y="1543050"/>
            <a:ext cx="11474756" cy="731341"/>
          </a:xfrm>
          <a:prstGeom prst="rect">
            <a:avLst/>
          </a:prstGeom>
          <a:ln>
            <a:headEnd type="none"/>
            <a:tailEnd type="none"/>
          </a:ln>
        </p:spPr>
        <p:txBody>
          <a:bodyPr vert="horz" wrap="square" lIns="0" tIns="0" rIns="0" bIns="0" rtlCol="0" anchor="t" anchorCtr="0"/>
          <a:lstStyle/>
          <a:p>
            <a:pPr algn="l">
              <a:defRPr/>
            </a:pPr>
            <a:r>
              <a:rPr lang="en-US" sz="1200" b="0" i="1" strike="noStrike">
                <a:ln/>
                <a:solidFill>
                  <a:srgbClr val="0A1F3D">
                    <a:alpha val="90196"/>
                  </a:srgbClr>
                </a:solidFill>
                <a:latin typeface="FZYaYiHei GB18030L2 R"/>
                <a:ea typeface="FZYaYiHei GB18030L2 R"/>
                <a:cs typeface="FZYaYiHei GB18030L2 R"/>
              </a:rPr>
              <a:t>Engineering improvements focus on three pillars: operational scalability through batch processing and standard format support, architectural</a:t>
            </a:r>
            <a:endParaRPr lang="en-US" sz="1100"/>
          </a:p>
          <a:p>
            <a:pPr algn="l"/>
            <a:r>
              <a:rPr sz="1200" b="0" i="1" strike="noStrike">
                <a:ln/>
                <a:solidFill>
                  <a:srgbClr val="0A1F3D">
                    <a:alpha val="90196"/>
                  </a:srgbClr>
                </a:solidFill>
                <a:latin typeface="FZYaYiHei GB18030L2 R"/>
                <a:ea typeface="FZYaYiHei GB18030L2 R"/>
                <a:cs typeface="FZYaYiHei GB18030L2 R"/>
              </a:rPr>
              <a:t>modernization transitioning from linear pipelines to flexible Agent-based workflows with improved observability, and enhanced robustness in speaker</a:t>
            </a:r>
            <a:endParaRPr/>
          </a:p>
          <a:p>
            <a:pPr algn="l"/>
            <a:r>
              <a:rPr sz="1200" b="0" i="1" strike="noStrike">
                <a:ln/>
                <a:solidFill>
                  <a:srgbClr val="0A1F3D">
                    <a:alpha val="90196"/>
                  </a:srgbClr>
                </a:solidFill>
                <a:latin typeface="FZYaYiHei GB18030L2 R"/>
                <a:ea typeface="FZYaYiHei GB18030L2 R"/>
                <a:cs typeface="FZYaYiHei GB18030L2 R"/>
              </a:rPr>
              <a:t>diarization for multi-speaker scenarios.</a:t>
            </a:r>
            <a:endParaRPr/>
          </a:p>
        </p:txBody>
      </p:sp>
      <p:sp>
        <p:nvSpPr>
          <p:cNvPr id="8" name="AutoShape 8"/>
          <p:cNvSpPr/>
          <p:nvPr/>
        </p:nvSpPr>
        <p:spPr>
          <a:xfrm>
            <a:off x="457086" y="2749600"/>
            <a:ext cx="5542164" cy="1851720"/>
          </a:xfrm>
          <a:prstGeom prst="rect">
            <a:avLst/>
          </a:prstGeom>
          <a:solidFill>
            <a:srgbClr val="E8EBEF">
              <a:alpha val="100000"/>
            </a:srgbClr>
          </a:solidFill>
          <a:ln w="9525">
            <a:solidFill>
              <a:srgbClr val="C5CDD6">
                <a:alpha val="100000"/>
              </a:srgbClr>
            </a:solidFill>
            <a:prstDash val="solid"/>
            <a:headEnd type="none"/>
            <a:tailEnd type="none"/>
          </a:ln>
        </p:spPr>
      </p:sp>
      <p:sp>
        <p:nvSpPr>
          <p:cNvPr id="9" name="AutoShape 9"/>
          <p:cNvSpPr/>
          <p:nvPr/>
        </p:nvSpPr>
        <p:spPr>
          <a:xfrm>
            <a:off x="457086" y="2749600"/>
            <a:ext cx="5542164" cy="9525"/>
          </a:xfrm>
          <a:prstGeom prst="line">
            <a:avLst/>
          </a:prstGeom>
          <a:ln w="28575">
            <a:solidFill>
              <a:srgbClr val="5B8CB8">
                <a:alpha val="100000"/>
              </a:srgbClr>
            </a:solidFill>
            <a:prstDash val="solid"/>
            <a:headEnd type="none"/>
            <a:tailEnd type="none"/>
          </a:ln>
        </p:spPr>
      </p:sp>
      <p:sp>
        <p:nvSpPr>
          <p:cNvPr id="10" name="AutoShape 10"/>
          <p:cNvSpPr/>
          <p:nvPr/>
        </p:nvSpPr>
        <p:spPr>
          <a:xfrm>
            <a:off x="635932" y="3016300"/>
            <a:ext cx="190452" cy="190500"/>
          </a:xfrm>
          <a:custGeom>
            <a:avLst/>
            <a:gdLst/>
            <a:ahLst/>
            <a:cxnLst/>
            <a:rect l="l" t="t" r="r" b="b"/>
            <a:pathLst>
              <a:path w="9998" h="10000">
                <a:moveTo>
                  <a:pt x="4999" y="8990"/>
                </a:moveTo>
                <a:lnTo>
                  <a:pt x="9246" y="6676"/>
                </a:lnTo>
                <a:lnTo>
                  <a:pt x="9877" y="7019"/>
                </a:lnTo>
                <a:cubicBezTo>
                  <a:pt x="9940" y="7057"/>
                  <a:pt x="9980" y="7107"/>
                  <a:pt x="9998" y="7171"/>
                </a:cubicBezTo>
                <a:cubicBezTo>
                  <a:pt x="10015" y="7235"/>
                  <a:pt x="10006" y="7295"/>
                  <a:pt x="9972" y="7352"/>
                </a:cubicBezTo>
                <a:cubicBezTo>
                  <a:pt x="9950" y="7384"/>
                  <a:pt x="9919" y="7409"/>
                  <a:pt x="9877" y="7429"/>
                </a:cubicBezTo>
                <a:lnTo>
                  <a:pt x="5272" y="9933"/>
                </a:lnTo>
                <a:cubicBezTo>
                  <a:pt x="5188" y="9977"/>
                  <a:pt x="5097" y="10000"/>
                  <a:pt x="4999" y="10000"/>
                </a:cubicBezTo>
                <a:cubicBezTo>
                  <a:pt x="4901" y="10000"/>
                  <a:pt x="4810" y="9977"/>
                  <a:pt x="4726" y="9933"/>
                </a:cubicBezTo>
                <a:lnTo>
                  <a:pt x="121" y="7429"/>
                </a:lnTo>
                <a:cubicBezTo>
                  <a:pt x="57" y="7397"/>
                  <a:pt x="17" y="7349"/>
                  <a:pt x="0" y="7286"/>
                </a:cubicBezTo>
                <a:cubicBezTo>
                  <a:pt x="-17" y="7222"/>
                  <a:pt x="-8" y="7161"/>
                  <a:pt x="26" y="7105"/>
                </a:cubicBezTo>
                <a:cubicBezTo>
                  <a:pt x="47" y="7073"/>
                  <a:pt x="79" y="7044"/>
                  <a:pt x="121" y="7019"/>
                </a:cubicBezTo>
                <a:lnTo>
                  <a:pt x="752" y="6676"/>
                </a:lnTo>
                <a:lnTo>
                  <a:pt x="4999" y="8990"/>
                </a:lnTo>
                <a:moveTo>
                  <a:pt x="4999" y="6752"/>
                </a:moveTo>
                <a:lnTo>
                  <a:pt x="9246" y="4438"/>
                </a:lnTo>
                <a:lnTo>
                  <a:pt x="9877" y="4781"/>
                </a:lnTo>
                <a:cubicBezTo>
                  <a:pt x="9940" y="4819"/>
                  <a:pt x="9980" y="4869"/>
                  <a:pt x="9998" y="4933"/>
                </a:cubicBezTo>
                <a:cubicBezTo>
                  <a:pt x="10015" y="4997"/>
                  <a:pt x="10006" y="5057"/>
                  <a:pt x="9972" y="5114"/>
                </a:cubicBezTo>
                <a:cubicBezTo>
                  <a:pt x="9950" y="5146"/>
                  <a:pt x="9919" y="5171"/>
                  <a:pt x="9877" y="5190"/>
                </a:cubicBezTo>
                <a:lnTo>
                  <a:pt x="4999" y="7848"/>
                </a:lnTo>
                <a:lnTo>
                  <a:pt x="121" y="5190"/>
                </a:lnTo>
                <a:cubicBezTo>
                  <a:pt x="57" y="5158"/>
                  <a:pt x="17" y="5111"/>
                  <a:pt x="0" y="5048"/>
                </a:cubicBezTo>
                <a:cubicBezTo>
                  <a:pt x="-17" y="4984"/>
                  <a:pt x="-8" y="4923"/>
                  <a:pt x="26" y="4867"/>
                </a:cubicBezTo>
                <a:cubicBezTo>
                  <a:pt x="47" y="4835"/>
                  <a:pt x="79" y="4806"/>
                  <a:pt x="121" y="4781"/>
                </a:cubicBezTo>
                <a:lnTo>
                  <a:pt x="752" y="4438"/>
                </a:lnTo>
                <a:lnTo>
                  <a:pt x="4999" y="6752"/>
                </a:lnTo>
                <a:moveTo>
                  <a:pt x="5272" y="67"/>
                </a:moveTo>
                <a:lnTo>
                  <a:pt x="9877" y="2571"/>
                </a:lnTo>
                <a:cubicBezTo>
                  <a:pt x="9940" y="2603"/>
                  <a:pt x="9980" y="2650"/>
                  <a:pt x="9998" y="2714"/>
                </a:cubicBezTo>
                <a:cubicBezTo>
                  <a:pt x="10015" y="2778"/>
                  <a:pt x="10006" y="2838"/>
                  <a:pt x="9972" y="2895"/>
                </a:cubicBezTo>
                <a:cubicBezTo>
                  <a:pt x="9950" y="2927"/>
                  <a:pt x="9919" y="2955"/>
                  <a:pt x="9877" y="2981"/>
                </a:cubicBezTo>
                <a:lnTo>
                  <a:pt x="4999" y="5629"/>
                </a:lnTo>
                <a:lnTo>
                  <a:pt x="121" y="2981"/>
                </a:lnTo>
                <a:cubicBezTo>
                  <a:pt x="57" y="2943"/>
                  <a:pt x="17" y="2892"/>
                  <a:pt x="0" y="2829"/>
                </a:cubicBezTo>
                <a:cubicBezTo>
                  <a:pt x="-17" y="2765"/>
                  <a:pt x="-8" y="2704"/>
                  <a:pt x="26" y="2648"/>
                </a:cubicBezTo>
                <a:cubicBezTo>
                  <a:pt x="47" y="2616"/>
                  <a:pt x="79" y="2590"/>
                  <a:pt x="121" y="2571"/>
                </a:cubicBezTo>
                <a:lnTo>
                  <a:pt x="4726" y="67"/>
                </a:lnTo>
                <a:cubicBezTo>
                  <a:pt x="4810" y="22"/>
                  <a:pt x="4901" y="0"/>
                  <a:pt x="4999" y="0"/>
                </a:cubicBezTo>
                <a:cubicBezTo>
                  <a:pt x="5097" y="0"/>
                  <a:pt x="5188" y="22"/>
                  <a:pt x="5272" y="67"/>
                </a:cubicBezTo>
                <a:moveTo>
                  <a:pt x="8216" y="2771"/>
                </a:moveTo>
                <a:lnTo>
                  <a:pt x="4999" y="1029"/>
                </a:lnTo>
                <a:lnTo>
                  <a:pt x="1782" y="2771"/>
                </a:lnTo>
                <a:lnTo>
                  <a:pt x="4999" y="4524"/>
                </a:lnTo>
              </a:path>
            </a:pathLst>
          </a:custGeom>
          <a:solidFill>
            <a:srgbClr val="5B8CB8">
              <a:alpha val="100000"/>
            </a:srgbClr>
          </a:solidFill>
          <a:ln>
            <a:headEnd type="none"/>
            <a:tailEnd type="none"/>
          </a:ln>
        </p:spPr>
      </p:sp>
      <p:sp>
        <p:nvSpPr>
          <p:cNvPr id="11" name="TextBox 11"/>
          <p:cNvSpPr txBox="1"/>
          <p:nvPr/>
        </p:nvSpPr>
        <p:spPr>
          <a:xfrm>
            <a:off x="900482" y="3011537"/>
            <a:ext cx="2390921"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Batch Processing &amp; Formats</a:t>
            </a:r>
            <a:endParaRPr lang="en-US" sz="1100"/>
          </a:p>
        </p:txBody>
      </p:sp>
      <p:sp>
        <p:nvSpPr>
          <p:cNvPr id="12" name="TextBox 12"/>
          <p:cNvSpPr txBox="1"/>
          <p:nvPr/>
        </p:nvSpPr>
        <p:spPr>
          <a:xfrm>
            <a:off x="657061" y="3406825"/>
            <a:ext cx="5342189" cy="64770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Implement batch processing capabilities for multi-video workloads and extend</a:t>
            </a:r>
            <a:endParaRPr lang="en-US" sz="1100"/>
          </a:p>
          <a:p>
            <a:pPr algn="l"/>
            <a:r>
              <a:rPr sz="1100" b="0" i="0" strike="noStrike">
                <a:ln/>
                <a:solidFill>
                  <a:srgbClr val="0A1F3D">
                    <a:alpha val="85098"/>
                  </a:srgbClr>
                </a:solidFill>
                <a:latin typeface="FZYaYiHei GB18030L2 R"/>
                <a:ea typeface="FZYaYiHei GB18030L2 R"/>
                <a:cs typeface="FZYaYiHei GB18030L2 R"/>
              </a:rPr>
              <a:t>export format support to include SRT and VTT subtitle standards for</a:t>
            </a:r>
            <a:endParaRPr/>
          </a:p>
          <a:p>
            <a:pPr algn="l"/>
            <a:r>
              <a:rPr sz="1100" b="0" i="0" strike="noStrike">
                <a:ln/>
                <a:solidFill>
                  <a:srgbClr val="0A1F3D">
                    <a:alpha val="85098"/>
                  </a:srgbClr>
                </a:solidFill>
                <a:latin typeface="FZYaYiHei GB18030L2 R"/>
                <a:ea typeface="FZYaYiHei GB18030L2 R"/>
                <a:cs typeface="FZYaYiHei GB18030L2 R"/>
              </a:rPr>
              <a:t>interoperability with existing video tools.</a:t>
            </a:r>
            <a:endParaRPr/>
          </a:p>
        </p:txBody>
      </p:sp>
      <p:sp>
        <p:nvSpPr>
          <p:cNvPr id="13" name="AutoShape 13"/>
          <p:cNvSpPr/>
          <p:nvPr/>
        </p:nvSpPr>
        <p:spPr>
          <a:xfrm>
            <a:off x="6189702" y="2749600"/>
            <a:ext cx="5542164" cy="1851720"/>
          </a:xfrm>
          <a:prstGeom prst="rect">
            <a:avLst/>
          </a:prstGeom>
          <a:solidFill>
            <a:srgbClr val="E8EBEF">
              <a:alpha val="100000"/>
            </a:srgbClr>
          </a:solidFill>
          <a:ln w="9525">
            <a:solidFill>
              <a:srgbClr val="C5CDD6">
                <a:alpha val="100000"/>
              </a:srgbClr>
            </a:solidFill>
            <a:prstDash val="solid"/>
            <a:headEnd type="none"/>
            <a:tailEnd type="none"/>
          </a:ln>
        </p:spPr>
      </p:sp>
      <p:sp>
        <p:nvSpPr>
          <p:cNvPr id="14" name="AutoShape 14"/>
          <p:cNvSpPr/>
          <p:nvPr/>
        </p:nvSpPr>
        <p:spPr>
          <a:xfrm>
            <a:off x="6189702" y="2749600"/>
            <a:ext cx="5542164" cy="9525"/>
          </a:xfrm>
          <a:prstGeom prst="line">
            <a:avLst/>
          </a:prstGeom>
          <a:ln w="28575">
            <a:solidFill>
              <a:srgbClr val="5B8CB8">
                <a:alpha val="100000"/>
              </a:srgbClr>
            </a:solidFill>
            <a:prstDash val="solid"/>
            <a:headEnd type="none"/>
            <a:tailEnd type="none"/>
          </a:ln>
        </p:spPr>
      </p:sp>
      <p:sp>
        <p:nvSpPr>
          <p:cNvPr id="15" name="TextBox 15"/>
          <p:cNvSpPr txBox="1"/>
          <p:nvPr/>
        </p:nvSpPr>
        <p:spPr>
          <a:xfrm>
            <a:off x="6484903" y="2997250"/>
            <a:ext cx="2155831"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Agent-Based Architecture</a:t>
            </a:r>
            <a:endParaRPr lang="en-US" sz="1100"/>
          </a:p>
        </p:txBody>
      </p:sp>
      <p:sp>
        <p:nvSpPr>
          <p:cNvPr id="16" name="TextBox 16"/>
          <p:cNvSpPr txBox="1"/>
          <p:nvPr/>
        </p:nvSpPr>
        <p:spPr>
          <a:xfrm>
            <a:off x="6389677" y="3378250"/>
            <a:ext cx="5342189" cy="647700"/>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Refactor sequential pipeline into modular Agent-based architecture enabling</a:t>
            </a:r>
            <a:endParaRPr lang="en-US" sz="1100"/>
          </a:p>
          <a:p>
            <a:pPr algn="l"/>
            <a:r>
              <a:rPr sz="1100" b="0" i="0" strike="noStrike">
                <a:ln/>
                <a:solidFill>
                  <a:srgbClr val="0A1F3D">
                    <a:alpha val="85098"/>
                  </a:srgbClr>
                </a:solidFill>
                <a:latin typeface="FZYaYiHei GB18030L2 R"/>
                <a:ea typeface="FZYaYiHei GB18030L2 R"/>
                <a:cs typeface="FZYaYiHei GB18030L2 R"/>
              </a:rPr>
              <a:t>dynamic routing, improved debugging visibility, and easier extension of</a:t>
            </a:r>
            <a:endParaRPr/>
          </a:p>
          <a:p>
            <a:pPr algn="l"/>
            <a:r>
              <a:rPr sz="1100" b="0" i="0" strike="noStrike">
                <a:ln/>
                <a:solidFill>
                  <a:srgbClr val="0A1F3D">
                    <a:alpha val="85098"/>
                  </a:srgbClr>
                </a:solidFill>
                <a:latin typeface="FZYaYiHei GB18030L2 R"/>
                <a:ea typeface="FZYaYiHei GB18030L2 R"/>
                <a:cs typeface="FZYaYiHei GB18030L2 R"/>
              </a:rPr>
              <a:t>processing capabilities.</a:t>
            </a:r>
            <a:endParaRPr/>
          </a:p>
        </p:txBody>
      </p:sp>
      <p:sp>
        <p:nvSpPr>
          <p:cNvPr id="17" name="AutoShape 17"/>
          <p:cNvSpPr/>
          <p:nvPr/>
        </p:nvSpPr>
        <p:spPr>
          <a:xfrm>
            <a:off x="457086" y="4791819"/>
            <a:ext cx="5542164" cy="1608981"/>
          </a:xfrm>
          <a:prstGeom prst="rect">
            <a:avLst/>
          </a:prstGeom>
          <a:solidFill>
            <a:srgbClr val="E8EBEF">
              <a:alpha val="100000"/>
            </a:srgbClr>
          </a:solidFill>
          <a:ln w="9525">
            <a:solidFill>
              <a:srgbClr val="C5CDD6">
                <a:alpha val="100000"/>
              </a:srgbClr>
            </a:solidFill>
            <a:prstDash val="solid"/>
            <a:headEnd type="none"/>
            <a:tailEnd type="none"/>
          </a:ln>
        </p:spPr>
      </p:sp>
      <p:sp>
        <p:nvSpPr>
          <p:cNvPr id="18" name="AutoShape 18"/>
          <p:cNvSpPr/>
          <p:nvPr/>
        </p:nvSpPr>
        <p:spPr>
          <a:xfrm>
            <a:off x="457086" y="4791819"/>
            <a:ext cx="5542164" cy="9525"/>
          </a:xfrm>
          <a:prstGeom prst="line">
            <a:avLst/>
          </a:prstGeom>
          <a:ln w="28575">
            <a:solidFill>
              <a:srgbClr val="5B8CB8">
                <a:alpha val="100000"/>
              </a:srgbClr>
            </a:solidFill>
            <a:prstDash val="solid"/>
            <a:headEnd type="none"/>
            <a:tailEnd type="none"/>
          </a:ln>
        </p:spPr>
      </p:sp>
      <p:sp>
        <p:nvSpPr>
          <p:cNvPr id="19" name="AutoShape 19"/>
          <p:cNvSpPr/>
          <p:nvPr/>
        </p:nvSpPr>
        <p:spPr>
          <a:xfrm>
            <a:off x="635932" y="5058519"/>
            <a:ext cx="190452" cy="190500"/>
          </a:xfrm>
          <a:custGeom>
            <a:avLst/>
            <a:gdLst/>
            <a:ahLst/>
            <a:cxnLst/>
            <a:rect l="l" t="t" r="r" b="b"/>
            <a:pathLst>
              <a:path w="9998" h="10000">
                <a:moveTo>
                  <a:pt x="952" y="10000"/>
                </a:moveTo>
                <a:lnTo>
                  <a:pt x="0" y="10000"/>
                </a:lnTo>
                <a:cubicBezTo>
                  <a:pt x="0" y="9308"/>
                  <a:pt x="174" y="8666"/>
                  <a:pt x="524" y="8076"/>
                </a:cubicBezTo>
                <a:cubicBezTo>
                  <a:pt x="860" y="7504"/>
                  <a:pt x="1313" y="7050"/>
                  <a:pt x="1885" y="6714"/>
                </a:cubicBezTo>
                <a:cubicBezTo>
                  <a:pt x="2475" y="6364"/>
                  <a:pt x="3117" y="6190"/>
                  <a:pt x="3809" y="6190"/>
                </a:cubicBezTo>
                <a:cubicBezTo>
                  <a:pt x="4501" y="6190"/>
                  <a:pt x="5142" y="6364"/>
                  <a:pt x="5732" y="6714"/>
                </a:cubicBezTo>
                <a:cubicBezTo>
                  <a:pt x="6303" y="7050"/>
                  <a:pt x="6757" y="7504"/>
                  <a:pt x="7094" y="8076"/>
                </a:cubicBezTo>
                <a:cubicBezTo>
                  <a:pt x="7443" y="8666"/>
                  <a:pt x="7618" y="9308"/>
                  <a:pt x="7618" y="10000"/>
                </a:cubicBezTo>
                <a:lnTo>
                  <a:pt x="6665" y="10000"/>
                </a:lnTo>
                <a:cubicBezTo>
                  <a:pt x="6665" y="9486"/>
                  <a:pt x="6535" y="9006"/>
                  <a:pt x="6275" y="8562"/>
                </a:cubicBezTo>
                <a:cubicBezTo>
                  <a:pt x="6021" y="8130"/>
                  <a:pt x="5678" y="7787"/>
                  <a:pt x="5247" y="7533"/>
                </a:cubicBezTo>
                <a:cubicBezTo>
                  <a:pt x="4802" y="7273"/>
                  <a:pt x="4323" y="7143"/>
                  <a:pt x="3809" y="7143"/>
                </a:cubicBezTo>
                <a:cubicBezTo>
                  <a:pt x="3294" y="7143"/>
                  <a:pt x="2815" y="7273"/>
                  <a:pt x="2371" y="7533"/>
                </a:cubicBezTo>
                <a:cubicBezTo>
                  <a:pt x="1939" y="7787"/>
                  <a:pt x="1596" y="8130"/>
                  <a:pt x="1343" y="8562"/>
                </a:cubicBezTo>
                <a:cubicBezTo>
                  <a:pt x="1082" y="9006"/>
                  <a:pt x="952" y="9486"/>
                  <a:pt x="952" y="10000"/>
                </a:cubicBezTo>
                <a:moveTo>
                  <a:pt x="3809" y="5714"/>
                </a:moveTo>
                <a:cubicBezTo>
                  <a:pt x="3288" y="5714"/>
                  <a:pt x="2809" y="5584"/>
                  <a:pt x="2371" y="5324"/>
                </a:cubicBezTo>
                <a:cubicBezTo>
                  <a:pt x="1939" y="5070"/>
                  <a:pt x="1596" y="4727"/>
                  <a:pt x="1343" y="4295"/>
                </a:cubicBezTo>
                <a:cubicBezTo>
                  <a:pt x="1082" y="3857"/>
                  <a:pt x="952" y="3377"/>
                  <a:pt x="952" y="2857"/>
                </a:cubicBezTo>
                <a:cubicBezTo>
                  <a:pt x="952" y="2336"/>
                  <a:pt x="1082" y="1857"/>
                  <a:pt x="1343" y="1419"/>
                </a:cubicBezTo>
                <a:cubicBezTo>
                  <a:pt x="1596" y="987"/>
                  <a:pt x="1939" y="644"/>
                  <a:pt x="2371" y="390"/>
                </a:cubicBezTo>
                <a:cubicBezTo>
                  <a:pt x="2809" y="130"/>
                  <a:pt x="3288" y="0"/>
                  <a:pt x="3809" y="0"/>
                </a:cubicBezTo>
                <a:cubicBezTo>
                  <a:pt x="4329" y="0"/>
                  <a:pt x="4809" y="130"/>
                  <a:pt x="5247" y="390"/>
                </a:cubicBezTo>
                <a:cubicBezTo>
                  <a:pt x="5678" y="644"/>
                  <a:pt x="6021" y="987"/>
                  <a:pt x="6275" y="1419"/>
                </a:cubicBezTo>
                <a:cubicBezTo>
                  <a:pt x="6535" y="1857"/>
                  <a:pt x="6665" y="2336"/>
                  <a:pt x="6665" y="2857"/>
                </a:cubicBezTo>
                <a:cubicBezTo>
                  <a:pt x="6665" y="3377"/>
                  <a:pt x="6535" y="3857"/>
                  <a:pt x="6275" y="4295"/>
                </a:cubicBezTo>
                <a:cubicBezTo>
                  <a:pt x="6021" y="4727"/>
                  <a:pt x="5678" y="5070"/>
                  <a:pt x="5247" y="5324"/>
                </a:cubicBezTo>
                <a:cubicBezTo>
                  <a:pt x="4809" y="5584"/>
                  <a:pt x="4329" y="5714"/>
                  <a:pt x="3809" y="5714"/>
                </a:cubicBezTo>
                <a:moveTo>
                  <a:pt x="3809" y="4762"/>
                </a:moveTo>
                <a:cubicBezTo>
                  <a:pt x="4151" y="4762"/>
                  <a:pt x="4469" y="4676"/>
                  <a:pt x="4761" y="4505"/>
                </a:cubicBezTo>
                <a:cubicBezTo>
                  <a:pt x="5053" y="4333"/>
                  <a:pt x="5284" y="4102"/>
                  <a:pt x="5456" y="3810"/>
                </a:cubicBezTo>
                <a:cubicBezTo>
                  <a:pt x="5627" y="3517"/>
                  <a:pt x="5713" y="3199"/>
                  <a:pt x="5713" y="2857"/>
                </a:cubicBezTo>
                <a:cubicBezTo>
                  <a:pt x="5713" y="2514"/>
                  <a:pt x="5627" y="2197"/>
                  <a:pt x="5456" y="1905"/>
                </a:cubicBezTo>
                <a:cubicBezTo>
                  <a:pt x="5284" y="1613"/>
                  <a:pt x="5053" y="1381"/>
                  <a:pt x="4761" y="1210"/>
                </a:cubicBezTo>
                <a:cubicBezTo>
                  <a:pt x="4469" y="1038"/>
                  <a:pt x="4151" y="952"/>
                  <a:pt x="3809" y="952"/>
                </a:cubicBezTo>
                <a:cubicBezTo>
                  <a:pt x="3466" y="952"/>
                  <a:pt x="3149" y="1038"/>
                  <a:pt x="2857" y="1210"/>
                </a:cubicBezTo>
                <a:cubicBezTo>
                  <a:pt x="2565" y="1381"/>
                  <a:pt x="2333" y="1613"/>
                  <a:pt x="2161" y="1905"/>
                </a:cubicBezTo>
                <a:cubicBezTo>
                  <a:pt x="1989" y="2197"/>
                  <a:pt x="1904" y="2514"/>
                  <a:pt x="1904" y="2857"/>
                </a:cubicBezTo>
                <a:cubicBezTo>
                  <a:pt x="1904" y="3199"/>
                  <a:pt x="1989" y="3517"/>
                  <a:pt x="2161" y="3810"/>
                </a:cubicBezTo>
                <a:cubicBezTo>
                  <a:pt x="2333" y="4102"/>
                  <a:pt x="2565" y="4333"/>
                  <a:pt x="2857" y="4505"/>
                </a:cubicBezTo>
                <a:cubicBezTo>
                  <a:pt x="3149" y="4676"/>
                  <a:pt x="3466" y="4762"/>
                  <a:pt x="3809" y="4762"/>
                </a:cubicBezTo>
                <a:moveTo>
                  <a:pt x="7360" y="7390"/>
                </a:moveTo>
                <a:lnTo>
                  <a:pt x="7751" y="6524"/>
                </a:lnTo>
                <a:cubicBezTo>
                  <a:pt x="8195" y="6720"/>
                  <a:pt x="8587" y="6995"/>
                  <a:pt x="8927" y="7348"/>
                </a:cubicBezTo>
                <a:cubicBezTo>
                  <a:pt x="9266" y="7700"/>
                  <a:pt x="9528" y="8098"/>
                  <a:pt x="9712" y="8543"/>
                </a:cubicBezTo>
                <a:cubicBezTo>
                  <a:pt x="9902" y="9006"/>
                  <a:pt x="9998" y="9492"/>
                  <a:pt x="9998" y="10000"/>
                </a:cubicBezTo>
                <a:lnTo>
                  <a:pt x="9046" y="10000"/>
                </a:lnTo>
                <a:cubicBezTo>
                  <a:pt x="9046" y="9428"/>
                  <a:pt x="8890" y="8905"/>
                  <a:pt x="8579" y="8429"/>
                </a:cubicBezTo>
                <a:cubicBezTo>
                  <a:pt x="8274" y="7965"/>
                  <a:pt x="7868" y="7618"/>
                  <a:pt x="7360" y="7390"/>
                </a:cubicBezTo>
                <a:moveTo>
                  <a:pt x="7160" y="2076"/>
                </a:moveTo>
                <a:lnTo>
                  <a:pt x="7427" y="1152"/>
                </a:lnTo>
                <a:cubicBezTo>
                  <a:pt x="7909" y="1349"/>
                  <a:pt x="8300" y="1667"/>
                  <a:pt x="8598" y="2105"/>
                </a:cubicBezTo>
                <a:cubicBezTo>
                  <a:pt x="8896" y="2543"/>
                  <a:pt x="9046" y="3031"/>
                  <a:pt x="9046" y="3571"/>
                </a:cubicBezTo>
                <a:cubicBezTo>
                  <a:pt x="9046" y="4022"/>
                  <a:pt x="8941" y="4440"/>
                  <a:pt x="8732" y="4824"/>
                </a:cubicBezTo>
                <a:cubicBezTo>
                  <a:pt x="8522" y="5208"/>
                  <a:pt x="8234" y="5520"/>
                  <a:pt x="7870" y="5762"/>
                </a:cubicBezTo>
                <a:cubicBezTo>
                  <a:pt x="7504" y="6003"/>
                  <a:pt x="7103" y="6143"/>
                  <a:pt x="6665" y="6181"/>
                </a:cubicBezTo>
                <a:lnTo>
                  <a:pt x="6665" y="5219"/>
                </a:lnTo>
                <a:cubicBezTo>
                  <a:pt x="6931" y="5181"/>
                  <a:pt x="7174" y="5084"/>
                  <a:pt x="7394" y="4929"/>
                </a:cubicBezTo>
                <a:cubicBezTo>
                  <a:pt x="7612" y="4773"/>
                  <a:pt x="7784" y="4576"/>
                  <a:pt x="7908" y="4338"/>
                </a:cubicBezTo>
                <a:cubicBezTo>
                  <a:pt x="8032" y="4100"/>
                  <a:pt x="8094" y="3844"/>
                  <a:pt x="8094" y="3571"/>
                </a:cubicBezTo>
                <a:cubicBezTo>
                  <a:pt x="8094" y="3247"/>
                  <a:pt x="8008" y="2952"/>
                  <a:pt x="7837" y="2686"/>
                </a:cubicBezTo>
                <a:cubicBezTo>
                  <a:pt x="7665" y="2419"/>
                  <a:pt x="7439" y="2216"/>
                  <a:pt x="7160" y="2076"/>
                </a:cubicBezTo>
              </a:path>
            </a:pathLst>
          </a:custGeom>
          <a:solidFill>
            <a:srgbClr val="5B8CB8">
              <a:alpha val="100000"/>
            </a:srgbClr>
          </a:solidFill>
          <a:ln>
            <a:headEnd type="none"/>
            <a:tailEnd type="none"/>
          </a:ln>
        </p:spPr>
      </p:sp>
      <p:sp>
        <p:nvSpPr>
          <p:cNvPr id="20" name="TextBox 20"/>
          <p:cNvSpPr txBox="1"/>
          <p:nvPr/>
        </p:nvSpPr>
        <p:spPr>
          <a:xfrm>
            <a:off x="900482" y="5053757"/>
            <a:ext cx="1638485"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Speaker Diarization</a:t>
            </a:r>
            <a:endParaRPr lang="en-US" sz="1100"/>
          </a:p>
        </p:txBody>
      </p:sp>
      <p:sp>
        <p:nvSpPr>
          <p:cNvPr id="21" name="TextBox 21"/>
          <p:cNvSpPr txBox="1"/>
          <p:nvPr/>
        </p:nvSpPr>
        <p:spPr>
          <a:xfrm>
            <a:off x="657061" y="5449044"/>
            <a:ext cx="5342189" cy="404812"/>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Enhance speaker diarization module to handle overlapping speech and speaker</a:t>
            </a:r>
            <a:endParaRPr lang="en-US" sz="1100"/>
          </a:p>
          <a:p>
            <a:pPr algn="l"/>
            <a:r>
              <a:rPr sz="1100" b="0" i="0" strike="noStrike">
                <a:ln/>
                <a:solidFill>
                  <a:srgbClr val="0A1F3D">
                    <a:alpha val="85098"/>
                  </a:srgbClr>
                </a:solidFill>
                <a:latin typeface="FZYaYiHei GB18030L2 R"/>
                <a:ea typeface="FZYaYiHei GB18030L2 R"/>
                <a:cs typeface="FZYaYiHei GB18030L2 R"/>
              </a:rPr>
              <a:t>transitions more robustly, particularly for interview and panel discussion formats.</a:t>
            </a:r>
            <a:endParaRPr/>
          </a:p>
        </p:txBody>
      </p:sp>
      <p:sp>
        <p:nvSpPr>
          <p:cNvPr id="22" name="AutoShape 22"/>
          <p:cNvSpPr/>
          <p:nvPr/>
        </p:nvSpPr>
        <p:spPr>
          <a:xfrm>
            <a:off x="6189702" y="4791819"/>
            <a:ext cx="5542164" cy="1608981"/>
          </a:xfrm>
          <a:prstGeom prst="rect">
            <a:avLst/>
          </a:prstGeom>
          <a:solidFill>
            <a:srgbClr val="E8EBEF">
              <a:alpha val="100000"/>
            </a:srgbClr>
          </a:solidFill>
          <a:ln w="9525">
            <a:solidFill>
              <a:srgbClr val="C5CDD6">
                <a:alpha val="100000"/>
              </a:srgbClr>
            </a:solidFill>
            <a:prstDash val="solid"/>
            <a:headEnd type="none"/>
            <a:tailEnd type="none"/>
          </a:ln>
        </p:spPr>
      </p:sp>
      <p:sp>
        <p:nvSpPr>
          <p:cNvPr id="23" name="AutoShape 23"/>
          <p:cNvSpPr/>
          <p:nvPr/>
        </p:nvSpPr>
        <p:spPr>
          <a:xfrm>
            <a:off x="6189702" y="4791819"/>
            <a:ext cx="5542164" cy="9525"/>
          </a:xfrm>
          <a:prstGeom prst="line">
            <a:avLst/>
          </a:prstGeom>
          <a:ln w="28575">
            <a:solidFill>
              <a:srgbClr val="5B8CB8">
                <a:alpha val="100000"/>
              </a:srgbClr>
            </a:solidFill>
            <a:prstDash val="solid"/>
            <a:headEnd type="none"/>
            <a:tailEnd type="none"/>
          </a:ln>
        </p:spPr>
      </p:sp>
      <p:sp>
        <p:nvSpPr>
          <p:cNvPr id="24" name="AutoShape 24"/>
          <p:cNvSpPr/>
          <p:nvPr/>
        </p:nvSpPr>
        <p:spPr>
          <a:xfrm>
            <a:off x="6368548" y="5058519"/>
            <a:ext cx="190452" cy="190500"/>
          </a:xfrm>
          <a:custGeom>
            <a:avLst/>
            <a:gdLst/>
            <a:ahLst/>
            <a:cxnLst/>
            <a:rect l="l" t="t" r="r" b="b"/>
            <a:pathLst>
              <a:path w="9998" h="10000">
                <a:moveTo>
                  <a:pt x="500" y="0"/>
                </a:moveTo>
                <a:lnTo>
                  <a:pt x="9498" y="0"/>
                </a:lnTo>
                <a:cubicBezTo>
                  <a:pt x="9638" y="0"/>
                  <a:pt x="9756" y="53"/>
                  <a:pt x="9853" y="161"/>
                </a:cubicBezTo>
                <a:cubicBezTo>
                  <a:pt x="9949" y="268"/>
                  <a:pt x="9998" y="400"/>
                  <a:pt x="9998" y="556"/>
                </a:cubicBezTo>
                <a:lnTo>
                  <a:pt x="9998" y="9444"/>
                </a:lnTo>
                <a:cubicBezTo>
                  <a:pt x="9998" y="9600"/>
                  <a:pt x="9949" y="9731"/>
                  <a:pt x="9853" y="9839"/>
                </a:cubicBezTo>
                <a:cubicBezTo>
                  <a:pt x="9756" y="9946"/>
                  <a:pt x="9638" y="10000"/>
                  <a:pt x="9498" y="10000"/>
                </a:cubicBezTo>
                <a:lnTo>
                  <a:pt x="500" y="10000"/>
                </a:lnTo>
                <a:cubicBezTo>
                  <a:pt x="360" y="10000"/>
                  <a:pt x="241" y="9946"/>
                  <a:pt x="145" y="9839"/>
                </a:cubicBezTo>
                <a:cubicBezTo>
                  <a:pt x="48" y="9731"/>
                  <a:pt x="0" y="9600"/>
                  <a:pt x="0" y="9444"/>
                </a:cubicBezTo>
                <a:lnTo>
                  <a:pt x="0" y="556"/>
                </a:lnTo>
                <a:cubicBezTo>
                  <a:pt x="0" y="400"/>
                  <a:pt x="48" y="268"/>
                  <a:pt x="145" y="161"/>
                </a:cubicBezTo>
                <a:cubicBezTo>
                  <a:pt x="241" y="53"/>
                  <a:pt x="360" y="0"/>
                  <a:pt x="500" y="0"/>
                </a:cubicBezTo>
                <a:moveTo>
                  <a:pt x="8998" y="8889"/>
                </a:moveTo>
                <a:lnTo>
                  <a:pt x="8998" y="4444"/>
                </a:lnTo>
                <a:lnTo>
                  <a:pt x="1000" y="4444"/>
                </a:lnTo>
                <a:lnTo>
                  <a:pt x="1000" y="8889"/>
                </a:lnTo>
                <a:lnTo>
                  <a:pt x="8998" y="8889"/>
                </a:lnTo>
                <a:moveTo>
                  <a:pt x="8998" y="3333"/>
                </a:moveTo>
                <a:lnTo>
                  <a:pt x="8998" y="1111"/>
                </a:lnTo>
                <a:lnTo>
                  <a:pt x="1000" y="1111"/>
                </a:lnTo>
                <a:lnTo>
                  <a:pt x="1000" y="3333"/>
                </a:lnTo>
                <a:lnTo>
                  <a:pt x="8998" y="3333"/>
                </a:lnTo>
                <a:moveTo>
                  <a:pt x="3499" y="1667"/>
                </a:moveTo>
                <a:lnTo>
                  <a:pt x="4499" y="1667"/>
                </a:lnTo>
                <a:lnTo>
                  <a:pt x="4499" y="2778"/>
                </a:lnTo>
                <a:lnTo>
                  <a:pt x="3499" y="2778"/>
                </a:lnTo>
                <a:lnTo>
                  <a:pt x="3499" y="1667"/>
                </a:lnTo>
                <a:moveTo>
                  <a:pt x="1500" y="1667"/>
                </a:moveTo>
                <a:lnTo>
                  <a:pt x="2500" y="1667"/>
                </a:lnTo>
                <a:lnTo>
                  <a:pt x="2500" y="2778"/>
                </a:lnTo>
                <a:lnTo>
                  <a:pt x="1500" y="2778"/>
                </a:lnTo>
              </a:path>
            </a:pathLst>
          </a:custGeom>
          <a:solidFill>
            <a:srgbClr val="5B8CB8">
              <a:alpha val="100000"/>
            </a:srgbClr>
          </a:solidFill>
          <a:ln>
            <a:headEnd type="none"/>
            <a:tailEnd type="none"/>
          </a:ln>
        </p:spPr>
      </p:sp>
      <p:sp>
        <p:nvSpPr>
          <p:cNvPr id="25" name="TextBox 25"/>
          <p:cNvSpPr txBox="1"/>
          <p:nvPr/>
        </p:nvSpPr>
        <p:spPr>
          <a:xfrm>
            <a:off x="6633100" y="5053757"/>
            <a:ext cx="1168455" cy="190500"/>
          </a:xfrm>
          <a:prstGeom prst="rect">
            <a:avLst/>
          </a:prstGeom>
          <a:ln>
            <a:headEnd type="none"/>
            <a:tailEnd type="none"/>
          </a:ln>
        </p:spPr>
        <p:txBody>
          <a:bodyPr vert="horz" wrap="square" lIns="0" tIns="0" rIns="0" bIns="0" rtlCol="0" anchor="t" anchorCtr="0"/>
          <a:lstStyle/>
          <a:p>
            <a:pPr algn="l">
              <a:defRPr/>
            </a:pPr>
            <a:r>
              <a:rPr lang="en-US" sz="1300" b="1" i="0" strike="noStrike">
                <a:ln/>
                <a:solidFill>
                  <a:srgbClr val="0A1F3D">
                    <a:alpha val="100000"/>
                  </a:srgbClr>
                </a:solidFill>
                <a:latin typeface="Alibaba PuHuiTi 3.0 55 Regular"/>
                <a:ea typeface="Alibaba PuHuiTi 3.0 55 Regular"/>
                <a:cs typeface="Alibaba PuHuiTi 3.0 55 Regular"/>
              </a:rPr>
              <a:t>Web Interface</a:t>
            </a:r>
            <a:endParaRPr lang="en-US" sz="1100"/>
          </a:p>
        </p:txBody>
      </p:sp>
      <p:sp>
        <p:nvSpPr>
          <p:cNvPr id="26" name="TextBox 26"/>
          <p:cNvSpPr txBox="1"/>
          <p:nvPr/>
        </p:nvSpPr>
        <p:spPr>
          <a:xfrm>
            <a:off x="6389677" y="5449044"/>
            <a:ext cx="5342189" cy="404812"/>
          </a:xfrm>
          <a:prstGeom prst="rect">
            <a:avLst/>
          </a:prstGeom>
          <a:ln>
            <a:headEnd type="none"/>
            <a:tailEnd type="none"/>
          </a:ln>
        </p:spPr>
        <p:txBody>
          <a:bodyPr vert="horz" wrap="square" lIns="0" tIns="0" rIns="0" bIns="0" rtlCol="0" anchor="t" anchorCtr="0"/>
          <a:lstStyle/>
          <a:p>
            <a:pPr algn="l">
              <a:defRPr/>
            </a:pPr>
            <a:r>
              <a:rPr lang="en-US" sz="1100" b="0" i="0" strike="noStrike">
                <a:ln/>
                <a:solidFill>
                  <a:srgbClr val="0A1F3D">
                    <a:alpha val="85098"/>
                  </a:srgbClr>
                </a:solidFill>
                <a:latin typeface="FZYaYiHei GB18030L2 R"/>
                <a:ea typeface="FZYaYiHei GB18030L2 R"/>
                <a:cs typeface="FZYaYiHei GB18030L2 R"/>
              </a:rPr>
              <a:t>Develop lightweight web interface for non-technical users while maintaining CLI</a:t>
            </a:r>
            <a:endParaRPr lang="en-US" sz="1100"/>
          </a:p>
          <a:p>
            <a:pPr algn="l"/>
            <a:r>
              <a:rPr sz="1100" b="0" i="0" strike="noStrike">
                <a:ln/>
                <a:solidFill>
                  <a:srgbClr val="0A1F3D">
                    <a:alpha val="85098"/>
                  </a:srgbClr>
                </a:solidFill>
                <a:latin typeface="FZYaYiHei GB18030L2 R"/>
                <a:ea typeface="FZYaYiHei GB18030L2 R"/>
                <a:cs typeface="FZYaYiHei GB18030L2 R"/>
              </a:rPr>
              <a:t>access for power users and automation workflows.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53EED-E19C-0367-B81B-65E883DA4344}"/>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E53C34A-3838-1774-A198-4E2BFD964120}"/>
              </a:ext>
            </a:extLst>
          </p:cNvPr>
          <p:cNvSpPr/>
          <p:nvPr/>
        </p:nvSpPr>
        <p:spPr>
          <a:xfrm>
            <a:off x="0" y="0"/>
            <a:ext cx="12188952" cy="6858000"/>
          </a:xfrm>
          <a:prstGeom prst="rect">
            <a:avLst/>
          </a:prstGeom>
          <a:blipFill rotWithShape="1">
            <a:blip r:embed="rId3">
              <a:alphaModFix/>
              <a:alphaModFix/>
            </a:blip>
            <a:stretch>
              <a:fillRect/>
            </a:stretch>
          </a:blipFill>
          <a:ln>
            <a:headEnd type="none"/>
            <a:tailEnd type="none"/>
          </a:ln>
        </p:spPr>
      </p:sp>
      <p:sp>
        <p:nvSpPr>
          <p:cNvPr id="3" name="AutoShape 3">
            <a:extLst>
              <a:ext uri="{FF2B5EF4-FFF2-40B4-BE49-F238E27FC236}">
                <a16:creationId xmlns:a16="http://schemas.microsoft.com/office/drawing/2014/main" id="{FB47096C-CFC4-DE46-70F6-856F40D210EA}"/>
              </a:ext>
            </a:extLst>
          </p:cNvPr>
          <p:cNvSpPr/>
          <p:nvPr/>
        </p:nvSpPr>
        <p:spPr>
          <a:xfrm>
            <a:off x="0" y="0"/>
            <a:ext cx="12188952" cy="6858000"/>
          </a:xfrm>
          <a:prstGeom prst="rect">
            <a:avLst/>
          </a:prstGeom>
          <a:solidFill>
            <a:srgbClr val="0A0A0B">
              <a:alpha val="34901"/>
            </a:srgbClr>
          </a:solidFill>
          <a:ln>
            <a:headEnd type="none"/>
            <a:tailEnd type="non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4" name="TextBox 4">
            <a:extLst>
              <a:ext uri="{FF2B5EF4-FFF2-40B4-BE49-F238E27FC236}">
                <a16:creationId xmlns:a16="http://schemas.microsoft.com/office/drawing/2014/main" id="{453F95C7-A7E8-7EE1-480B-FBE4729080F5}"/>
              </a:ext>
            </a:extLst>
          </p:cNvPr>
          <p:cNvSpPr txBox="1"/>
          <p:nvPr/>
        </p:nvSpPr>
        <p:spPr>
          <a:xfrm>
            <a:off x="649770" y="1972865"/>
            <a:ext cx="10889412" cy="2234208"/>
          </a:xfrm>
          <a:prstGeom prst="rect">
            <a:avLst/>
          </a:prstGeom>
          <a:ln>
            <a:headEnd type="none"/>
            <a:tailEnd type="none"/>
          </a:ln>
        </p:spPr>
        <p:txBody>
          <a:bodyPr vert="horz" wrap="square" lIns="0" tIns="0" rIns="0" bIns="0" rtlCol="0" anchor="t"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5100" b="1" dirty="0">
                <a:ln/>
                <a:solidFill>
                  <a:srgbClr val="F1F3F5">
                    <a:alpha val="100000"/>
                  </a:srgbClr>
                </a:solidFill>
                <a:latin typeface="Alibaba PuHuiTi 3.0 55 Regular"/>
              </a:rPr>
              <a:t>Thank you for listening!</a:t>
            </a:r>
            <a:endParaRPr kumimoji="0" lang="en-US" sz="1100" b="0"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Box 5">
            <a:extLst>
              <a:ext uri="{FF2B5EF4-FFF2-40B4-BE49-F238E27FC236}">
                <a16:creationId xmlns:a16="http://schemas.microsoft.com/office/drawing/2014/main" id="{685A39E6-EE87-688B-98A2-C8405523C134}"/>
              </a:ext>
            </a:extLst>
          </p:cNvPr>
          <p:cNvSpPr txBox="1"/>
          <p:nvPr/>
        </p:nvSpPr>
        <p:spPr>
          <a:xfrm>
            <a:off x="1983755" y="4549973"/>
            <a:ext cx="8221443" cy="335161"/>
          </a:xfrm>
          <a:prstGeom prst="rect">
            <a:avLst/>
          </a:prstGeom>
          <a:ln>
            <a:headEnd type="none"/>
            <a:tailEnd type="none"/>
          </a:ln>
        </p:spPr>
        <p:txBody>
          <a:bodyPr vert="horz" wrap="square" lIns="0" tIns="0" rIns="0" bIns="0" rtlCol="0" anchor="t"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solidFill>
                  <a:srgbClr val="F1F3F5">
                    <a:alpha val="90196"/>
                  </a:srgbClr>
                </a:solidFill>
                <a:effectLst/>
                <a:uLnTx/>
                <a:uFillTx/>
                <a:latin typeface="FZYaYiHei GB18030L2 R"/>
                <a:ea typeface="FZYaYiHei GB18030L2 R"/>
                <a:cs typeface="FZYaYiHei GB18030L2 R"/>
              </a:rPr>
              <a:t>ML Project - Group 4 Progress Report</a:t>
            </a:r>
            <a:endParaRPr kumimoji="0" lang="en-US" sz="11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64338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2991</Words>
  <Application>Microsoft Office PowerPoint</Application>
  <PresentationFormat>宽屏</PresentationFormat>
  <Paragraphs>247</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Inter</vt:lpstr>
      <vt:lpstr>Alibaba PuHuiTi 3.0 55 Regular</vt:lpstr>
      <vt:lpstr>FZYaYiHei GB18030L2 R</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yz l</dc:creator>
  <cp:lastModifiedBy>yz l</cp:lastModifiedBy>
  <cp:revision>5</cp:revision>
  <dcterms:created xsi:type="dcterms:W3CDTF">2006-08-16T00:00:00Z</dcterms:created>
  <dcterms:modified xsi:type="dcterms:W3CDTF">2026-06-15T15:47:29Z</dcterms:modified>
</cp:coreProperties>
</file>